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8572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542" autoAdjust="0"/>
  </p:normalViewPr>
  <p:slideViewPr>
    <p:cSldViewPr snapToGrid="0">
      <p:cViewPr varScale="1">
        <p:scale>
          <a:sx n="42" d="100"/>
          <a:sy n="42" d="100"/>
        </p:scale>
        <p:origin x="175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사용법</a:t>
            </a:r>
            <a:r>
              <a:rPr lang="en-US" dirty="0"/>
              <a:t>]</a:t>
            </a:r>
            <a:endParaRPr dirty="0"/>
          </a:p>
          <a:p>
            <a:r>
              <a:rPr dirty="0"/>
              <a:t>총 5장입니다.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표지를</a:t>
            </a:r>
            <a:r>
              <a:rPr dirty="0"/>
              <a:t> </a:t>
            </a:r>
            <a:r>
              <a:rPr dirty="0" err="1"/>
              <a:t>추가하지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 </a:t>
            </a:r>
            <a:r>
              <a:rPr dirty="0" err="1"/>
              <a:t>발표</a:t>
            </a:r>
            <a:r>
              <a:rPr dirty="0"/>
              <a:t> 5분, </a:t>
            </a:r>
            <a:r>
              <a:rPr dirty="0" err="1"/>
              <a:t>질의응답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3분입니다. </a:t>
            </a:r>
            <a:r>
              <a:rPr lang="ko-KR" altLang="en-US" dirty="0"/>
              <a:t>발표는 내용을 충분히 숙지한 후에 스크립트 없이 자연스럽게 대화식으로 발표합니다</a:t>
            </a:r>
            <a:r>
              <a:rPr lang="en-US" altLang="ko-KR" dirty="0"/>
              <a:t>.</a:t>
            </a:r>
            <a:br>
              <a:rPr lang="en-US" dirty="0"/>
            </a:br>
            <a:r>
              <a:rPr dirty="0" err="1"/>
              <a:t>대괄호</a:t>
            </a:r>
            <a:r>
              <a:rPr dirty="0"/>
              <a:t> </a:t>
            </a:r>
            <a:r>
              <a:rPr dirty="0" err="1"/>
              <a:t>안의</a:t>
            </a:r>
            <a:r>
              <a:rPr dirty="0"/>
              <a:t> </a:t>
            </a:r>
            <a:r>
              <a:rPr dirty="0" err="1"/>
              <a:t>안내</a:t>
            </a:r>
            <a:r>
              <a:rPr dirty="0"/>
              <a:t> </a:t>
            </a:r>
            <a:r>
              <a:rPr dirty="0" err="1"/>
              <a:t>문구를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내용으로</a:t>
            </a:r>
            <a:r>
              <a:rPr dirty="0"/>
              <a:t> </a:t>
            </a:r>
            <a:r>
              <a:rPr dirty="0" err="1"/>
              <a:t>교체하세요</a:t>
            </a:r>
            <a:r>
              <a:rPr dirty="0"/>
              <a:t>. </a:t>
            </a:r>
            <a:r>
              <a:rPr dirty="0" err="1"/>
              <a:t>작성</a:t>
            </a:r>
            <a:r>
              <a:rPr dirty="0"/>
              <a:t> 후 </a:t>
            </a:r>
            <a:r>
              <a:rPr dirty="0" err="1"/>
              <a:t>하단의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안내는</a:t>
            </a:r>
            <a:r>
              <a:rPr dirty="0"/>
              <a:t> </a:t>
            </a:r>
            <a:r>
              <a:rPr dirty="0" err="1"/>
              <a:t>삭제해도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문장은</a:t>
            </a:r>
            <a:r>
              <a:rPr dirty="0"/>
              <a:t> </a:t>
            </a:r>
            <a:r>
              <a:rPr dirty="0" err="1"/>
              <a:t>짧게</a:t>
            </a:r>
            <a:r>
              <a:rPr dirty="0"/>
              <a:t> </a:t>
            </a:r>
            <a:r>
              <a:rPr dirty="0" err="1"/>
              <a:t>쓰고</a:t>
            </a:r>
            <a:r>
              <a:rPr dirty="0"/>
              <a:t>, </a:t>
            </a:r>
            <a:r>
              <a:rPr dirty="0" err="1"/>
              <a:t>표의</a:t>
            </a:r>
            <a:r>
              <a:rPr dirty="0"/>
              <a:t> 행 </a:t>
            </a:r>
            <a:r>
              <a:rPr dirty="0" err="1"/>
              <a:t>수와</a:t>
            </a:r>
            <a:r>
              <a:rPr dirty="0"/>
              <a:t> </a:t>
            </a:r>
            <a:r>
              <a:rPr dirty="0" err="1"/>
              <a:t>배치는</a:t>
            </a:r>
            <a:r>
              <a:rPr dirty="0"/>
              <a:t> </a:t>
            </a:r>
            <a:r>
              <a:rPr dirty="0" err="1"/>
              <a:t>프로젝트에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조정하되</a:t>
            </a:r>
            <a:r>
              <a:rPr dirty="0"/>
              <a:t> 5장을 </a:t>
            </a:r>
            <a:r>
              <a:rPr dirty="0" err="1"/>
              <a:t>유지하세요</a:t>
            </a:r>
            <a:r>
              <a:rPr dirty="0"/>
              <a:t>.</a:t>
            </a:r>
            <a:r>
              <a:rPr lang="en-US" dirty="0"/>
              <a:t> </a:t>
            </a:r>
            <a:r>
              <a:rPr dirty="0" err="1"/>
              <a:t>조사에서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사실</a:t>
            </a:r>
            <a:r>
              <a:rPr dirty="0"/>
              <a:t>,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해석</a:t>
            </a:r>
            <a:r>
              <a:rPr lang="en-US" dirty="0"/>
              <a:t>(</a:t>
            </a:r>
            <a:r>
              <a:rPr lang="ko-KR" altLang="en-US" dirty="0"/>
              <a:t>확인</a:t>
            </a:r>
            <a:r>
              <a:rPr lang="en-US" altLang="ko-KR" dirty="0"/>
              <a:t>,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/>
              <a:t>검증 전 가설</a:t>
            </a:r>
            <a:r>
              <a:rPr lang="en-US" altLang="ko-KR" dirty="0"/>
              <a:t>)</a:t>
            </a:r>
            <a:r>
              <a:rPr dirty="0"/>
              <a:t>을 </a:t>
            </a:r>
            <a:r>
              <a:rPr dirty="0" err="1"/>
              <a:t>구분</a:t>
            </a:r>
            <a:r>
              <a:rPr lang="ko-KR" altLang="en-US" dirty="0"/>
              <a:t>해보세요</a:t>
            </a:r>
            <a:r>
              <a:rPr dirty="0"/>
              <a:t>. </a:t>
            </a:r>
            <a:r>
              <a:rPr dirty="0" err="1"/>
              <a:t>출처는</a:t>
            </a:r>
            <a:r>
              <a:rPr dirty="0"/>
              <a:t> </a:t>
            </a:r>
            <a:r>
              <a:rPr dirty="0" err="1"/>
              <a:t>해당</a:t>
            </a:r>
            <a:r>
              <a:rPr dirty="0"/>
              <a:t> </a:t>
            </a:r>
            <a:r>
              <a:rPr dirty="0" err="1"/>
              <a:t>페이지</a:t>
            </a:r>
            <a:r>
              <a:rPr dirty="0"/>
              <a:t> </a:t>
            </a:r>
            <a:r>
              <a:rPr dirty="0" err="1"/>
              <a:t>하단에</a:t>
            </a:r>
            <a:r>
              <a:rPr dirty="0"/>
              <a:t> </a:t>
            </a:r>
            <a:r>
              <a:rPr dirty="0" err="1"/>
              <a:t>저자</a:t>
            </a:r>
            <a:r>
              <a:rPr lang="en-US" dirty="0"/>
              <a:t>, </a:t>
            </a:r>
            <a:r>
              <a:rPr dirty="0" err="1"/>
              <a:t>기관</a:t>
            </a:r>
            <a:r>
              <a:rPr dirty="0"/>
              <a:t>, </a:t>
            </a:r>
            <a:r>
              <a:rPr dirty="0" err="1"/>
              <a:t>연도</a:t>
            </a:r>
            <a:r>
              <a:rPr dirty="0"/>
              <a:t>, </a:t>
            </a:r>
            <a:r>
              <a:rPr dirty="0" err="1"/>
              <a:t>자료명을</a:t>
            </a:r>
            <a:r>
              <a:rPr dirty="0"/>
              <a:t> </a:t>
            </a:r>
            <a:r>
              <a:rPr lang="ko-KR" altLang="en-US" dirty="0"/>
              <a:t>작성하세요</a:t>
            </a:r>
            <a:r>
              <a:rPr lang="en-US" altLang="ko-KR" dirty="0"/>
              <a:t>.</a:t>
            </a:r>
            <a:br>
              <a:rPr lang="en-US" dirty="0"/>
            </a:br>
            <a:endParaRPr dirty="0"/>
          </a:p>
          <a:p>
            <a:r>
              <a:rPr dirty="0"/>
              <a:t>1장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계획의</a:t>
            </a:r>
            <a:r>
              <a:rPr dirty="0"/>
              <a:t>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정의를</a:t>
            </a:r>
            <a:r>
              <a:rPr dirty="0"/>
              <a:t> 사용자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비추어</a:t>
            </a:r>
            <a:r>
              <a:rPr dirty="0"/>
              <a:t> </a:t>
            </a:r>
            <a:r>
              <a:rPr dirty="0" err="1"/>
              <a:t>수정하세요</a:t>
            </a:r>
            <a:r>
              <a:rPr dirty="0"/>
              <a:t>.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사용자를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넓게</a:t>
            </a:r>
            <a:r>
              <a:rPr dirty="0"/>
              <a:t> </a:t>
            </a:r>
            <a:r>
              <a:rPr dirty="0" err="1"/>
              <a:t>잡지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, </a:t>
            </a:r>
            <a:r>
              <a:rPr dirty="0" err="1"/>
              <a:t>행동이</a:t>
            </a:r>
            <a:r>
              <a:rPr dirty="0"/>
              <a:t> </a:t>
            </a:r>
            <a:r>
              <a:rPr dirty="0" err="1"/>
              <a:t>발생하는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설명하세요</a:t>
            </a:r>
            <a:r>
              <a:rPr dirty="0"/>
              <a:t>.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,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인원과</a:t>
            </a:r>
            <a:r>
              <a:rPr dirty="0"/>
              <a:t> </a:t>
            </a:r>
            <a:r>
              <a:rPr dirty="0" err="1"/>
              <a:t>선정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, </a:t>
            </a:r>
            <a:r>
              <a:rPr dirty="0" err="1"/>
              <a:t>날짜를</a:t>
            </a:r>
            <a:r>
              <a:rPr dirty="0"/>
              <a:t> </a:t>
            </a:r>
            <a:r>
              <a:rPr dirty="0" err="1"/>
              <a:t>적어야</a:t>
            </a:r>
            <a:r>
              <a:rPr dirty="0"/>
              <a:t> </a:t>
            </a:r>
            <a:r>
              <a:rPr dirty="0" err="1"/>
              <a:t>근거의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이해할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lang="ko-KR" altLang="en-US" dirty="0"/>
              <a:t>개인적 경험이나</a:t>
            </a:r>
            <a:r>
              <a:rPr lang="en-US" altLang="ko-KR" dirty="0"/>
              <a:t> </a:t>
            </a:r>
            <a:r>
              <a:rPr dirty="0" err="1"/>
              <a:t>인터뷰</a:t>
            </a:r>
            <a:r>
              <a:rPr lang="en-US" dirty="0"/>
              <a:t>,</a:t>
            </a:r>
            <a:r>
              <a:rPr dirty="0"/>
              <a:t> </a:t>
            </a:r>
            <a:r>
              <a:rPr dirty="0" err="1"/>
              <a:t>관찰의</a:t>
            </a:r>
            <a:r>
              <a:rPr dirty="0"/>
              <a:t> </a:t>
            </a:r>
            <a:r>
              <a:rPr dirty="0" err="1"/>
              <a:t>원문</a:t>
            </a:r>
            <a:r>
              <a:rPr dirty="0"/>
              <a:t> </a:t>
            </a:r>
            <a:r>
              <a:rPr dirty="0" err="1"/>
              <a:t>발언과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간단히</a:t>
            </a:r>
            <a:r>
              <a:rPr dirty="0"/>
              <a:t> </a:t>
            </a:r>
            <a:r>
              <a:rPr dirty="0" err="1"/>
              <a:t>제시하고</a:t>
            </a:r>
            <a:r>
              <a:rPr dirty="0"/>
              <a:t>, </a:t>
            </a:r>
            <a:r>
              <a:rPr dirty="0" err="1"/>
              <a:t>유사한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묶어</a:t>
            </a:r>
            <a:r>
              <a:rPr dirty="0"/>
              <a:t> </a:t>
            </a:r>
            <a:r>
              <a:rPr dirty="0" err="1"/>
              <a:t>반복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찾으세요</a:t>
            </a:r>
            <a:r>
              <a:rPr dirty="0"/>
              <a:t>. </a:t>
            </a:r>
            <a:r>
              <a:rPr dirty="0" err="1"/>
              <a:t>통계·문헌은</a:t>
            </a:r>
            <a:r>
              <a:rPr dirty="0"/>
              <a:t> </a:t>
            </a:r>
            <a:r>
              <a:rPr dirty="0" err="1"/>
              <a:t>문제의</a:t>
            </a:r>
            <a:r>
              <a:rPr dirty="0"/>
              <a:t> </a:t>
            </a:r>
            <a:r>
              <a:rPr dirty="0" err="1"/>
              <a:t>규모나</a:t>
            </a:r>
            <a:r>
              <a:rPr dirty="0"/>
              <a:t> </a:t>
            </a:r>
            <a:r>
              <a:rPr dirty="0" err="1"/>
              <a:t>맥락을</a:t>
            </a:r>
            <a:r>
              <a:rPr dirty="0"/>
              <a:t> </a:t>
            </a:r>
            <a:r>
              <a:rPr dirty="0" err="1"/>
              <a:t>뒷받침하는</a:t>
            </a:r>
            <a:r>
              <a:rPr dirty="0"/>
              <a:t> 데 </a:t>
            </a:r>
            <a:r>
              <a:rPr dirty="0" err="1"/>
              <a:t>활용하세요</a:t>
            </a:r>
            <a:r>
              <a:rPr dirty="0"/>
              <a:t>. </a:t>
            </a:r>
            <a:r>
              <a:rPr lang="ko-KR" altLang="en-US" dirty="0"/>
              <a:t>설문 등 </a:t>
            </a:r>
            <a:r>
              <a:rPr dirty="0" err="1"/>
              <a:t>소규모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사용자로</a:t>
            </a:r>
            <a:r>
              <a:rPr dirty="0"/>
              <a:t> </a:t>
            </a:r>
            <a:r>
              <a:rPr dirty="0" err="1"/>
              <a:t>일반화하지</a:t>
            </a:r>
            <a:r>
              <a:rPr dirty="0"/>
              <a:t> </a:t>
            </a:r>
            <a:r>
              <a:rPr dirty="0" err="1"/>
              <a:t>마세요</a:t>
            </a:r>
            <a:r>
              <a:rPr dirty="0"/>
              <a:t>.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아직</a:t>
            </a:r>
            <a:r>
              <a:rPr dirty="0"/>
              <a:t> </a:t>
            </a:r>
            <a:r>
              <a:rPr dirty="0" err="1"/>
              <a:t>추정이라면</a:t>
            </a:r>
            <a:r>
              <a:rPr dirty="0"/>
              <a:t> </a:t>
            </a:r>
            <a:r>
              <a:rPr dirty="0" err="1"/>
              <a:t>표시하세요</a:t>
            </a:r>
            <a:r>
              <a:rPr dirty="0"/>
              <a:t>.</a:t>
            </a:r>
          </a:p>
          <a:p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정의는</a:t>
            </a:r>
            <a:r>
              <a:rPr dirty="0"/>
              <a:t> </a:t>
            </a:r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겪는</a:t>
            </a:r>
            <a:r>
              <a:rPr dirty="0"/>
              <a:t> </a:t>
            </a:r>
            <a:r>
              <a:rPr dirty="0" err="1"/>
              <a:t>어려움을</a:t>
            </a:r>
            <a:r>
              <a:rPr dirty="0"/>
              <a:t> </a:t>
            </a:r>
            <a:r>
              <a:rPr dirty="0" err="1"/>
              <a:t>설명해야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'</a:t>
            </a:r>
            <a:r>
              <a:rPr dirty="0" err="1"/>
              <a:t>앱이</a:t>
            </a:r>
            <a:r>
              <a:rPr dirty="0"/>
              <a:t> </a:t>
            </a:r>
            <a:r>
              <a:rPr dirty="0" err="1"/>
              <a:t>없다</a:t>
            </a:r>
            <a:r>
              <a:rPr dirty="0"/>
              <a:t>', 'AI </a:t>
            </a:r>
            <a:r>
              <a:rPr dirty="0" err="1"/>
              <a:t>기능이</a:t>
            </a:r>
            <a:r>
              <a:rPr dirty="0"/>
              <a:t> </a:t>
            </a:r>
            <a:r>
              <a:rPr dirty="0" err="1"/>
              <a:t>필요하다'는</a:t>
            </a:r>
            <a:r>
              <a:rPr dirty="0"/>
              <a:t> </a:t>
            </a:r>
            <a:r>
              <a:rPr dirty="0" err="1"/>
              <a:t>문장만으로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정의하지</a:t>
            </a:r>
            <a:r>
              <a:rPr dirty="0"/>
              <a:t> </a:t>
            </a:r>
            <a:r>
              <a:rPr dirty="0" err="1"/>
              <a:t>마세요</a:t>
            </a:r>
            <a:r>
              <a:rPr dirty="0"/>
              <a:t>.</a:t>
            </a:r>
          </a:p>
          <a:p>
            <a:r>
              <a:rPr dirty="0" err="1"/>
              <a:t>발표에서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누구의</a:t>
            </a:r>
            <a:r>
              <a:rPr dirty="0"/>
              <a:t>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문제인지</a:t>
            </a:r>
            <a:r>
              <a:rPr dirty="0"/>
              <a:t>,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판단했는지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2장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r>
              <a:rPr dirty="0" err="1"/>
              <a:t>인사이트는</a:t>
            </a:r>
            <a:r>
              <a:rPr dirty="0"/>
              <a:t> </a:t>
            </a:r>
            <a:r>
              <a:rPr dirty="0" err="1"/>
              <a:t>조사</a:t>
            </a:r>
            <a:r>
              <a:rPr dirty="0"/>
              <a:t> </a:t>
            </a:r>
            <a:r>
              <a:rPr dirty="0" err="1"/>
              <a:t>사실을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사용자의</a:t>
            </a:r>
            <a:r>
              <a:rPr dirty="0"/>
              <a:t> </a:t>
            </a:r>
            <a:r>
              <a:rPr dirty="0" err="1"/>
              <a:t>숨은</a:t>
            </a:r>
            <a:r>
              <a:rPr dirty="0"/>
              <a:t> </a:t>
            </a:r>
            <a:r>
              <a:rPr dirty="0" err="1"/>
              <a:t>필요와</a:t>
            </a:r>
            <a:r>
              <a:rPr dirty="0"/>
              <a:t> </a:t>
            </a:r>
            <a:r>
              <a:rPr dirty="0" err="1"/>
              <a:t>개선할</a:t>
            </a:r>
            <a:r>
              <a:rPr dirty="0"/>
              <a:t> </a:t>
            </a:r>
            <a:r>
              <a:rPr dirty="0" err="1"/>
              <a:t>경험을</a:t>
            </a:r>
            <a:r>
              <a:rPr dirty="0"/>
              <a:t> </a:t>
            </a:r>
            <a:r>
              <a:rPr dirty="0" err="1"/>
              <a:t>해석한</a:t>
            </a:r>
            <a:r>
              <a:rPr dirty="0"/>
              <a:t> </a:t>
            </a:r>
            <a:r>
              <a:rPr dirty="0" err="1"/>
              <a:t>문장입니다</a:t>
            </a:r>
            <a:r>
              <a:rPr dirty="0"/>
              <a:t>. </a:t>
            </a:r>
            <a:r>
              <a:rPr dirty="0" err="1"/>
              <a:t>단순히</a:t>
            </a:r>
            <a:r>
              <a:rPr dirty="0"/>
              <a:t> '</a:t>
            </a:r>
            <a:r>
              <a:rPr dirty="0" err="1"/>
              <a:t>불편하다</a:t>
            </a:r>
            <a:r>
              <a:rPr dirty="0"/>
              <a:t>', '</a:t>
            </a:r>
            <a:r>
              <a:rPr dirty="0" err="1"/>
              <a:t>편리한</a:t>
            </a:r>
            <a:r>
              <a:rPr dirty="0"/>
              <a:t> </a:t>
            </a:r>
            <a:r>
              <a:rPr dirty="0" err="1"/>
              <a:t>앱이</a:t>
            </a:r>
            <a:r>
              <a:rPr dirty="0"/>
              <a:t> </a:t>
            </a:r>
            <a:r>
              <a:rPr dirty="0" err="1"/>
              <a:t>필요하다'로</a:t>
            </a:r>
            <a:r>
              <a:rPr dirty="0"/>
              <a:t> </a:t>
            </a:r>
            <a:r>
              <a:rPr dirty="0" err="1"/>
              <a:t>끝내지</a:t>
            </a:r>
            <a:r>
              <a:rPr dirty="0"/>
              <a:t> </a:t>
            </a:r>
            <a:r>
              <a:rPr dirty="0" err="1"/>
              <a:t>마세요</a:t>
            </a:r>
            <a:r>
              <a:rPr dirty="0"/>
              <a:t>.</a:t>
            </a:r>
          </a:p>
          <a:p>
            <a:r>
              <a:rPr dirty="0" err="1"/>
              <a:t>가상의</a:t>
            </a:r>
            <a:r>
              <a:rPr dirty="0"/>
              <a:t>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예시</a:t>
            </a:r>
            <a:r>
              <a:rPr dirty="0"/>
              <a:t>: '</a:t>
            </a:r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초보자는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우선순위를</a:t>
            </a:r>
            <a:r>
              <a:rPr dirty="0"/>
              <a:t> </a:t>
            </a:r>
            <a:r>
              <a:rPr dirty="0" err="1"/>
              <a:t>판단하기</a:t>
            </a:r>
            <a:r>
              <a:rPr dirty="0"/>
              <a:t> </a:t>
            </a:r>
            <a:r>
              <a:rPr dirty="0" err="1"/>
              <a:t>어렵기</a:t>
            </a:r>
            <a:r>
              <a:rPr dirty="0"/>
              <a:t> </a:t>
            </a:r>
            <a:r>
              <a:rPr dirty="0" err="1"/>
              <a:t>때문에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연습에서</a:t>
            </a:r>
            <a:r>
              <a:rPr dirty="0"/>
              <a:t> </a:t>
            </a:r>
            <a:r>
              <a:rPr dirty="0" err="1"/>
              <a:t>바꿀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구체적으로</a:t>
            </a:r>
            <a:r>
              <a:rPr dirty="0"/>
              <a:t> </a:t>
            </a:r>
            <a:r>
              <a:rPr dirty="0" err="1"/>
              <a:t>짚어주는</a:t>
            </a:r>
            <a:r>
              <a:rPr dirty="0"/>
              <a:t> </a:t>
            </a:r>
            <a:r>
              <a:rPr dirty="0" err="1"/>
              <a:t>피드백이</a:t>
            </a:r>
            <a:r>
              <a:rPr dirty="0"/>
              <a:t> </a:t>
            </a:r>
            <a:r>
              <a:rPr dirty="0" err="1"/>
              <a:t>필요하다</a:t>
            </a:r>
            <a:r>
              <a:rPr dirty="0"/>
              <a:t>.'</a:t>
            </a:r>
            <a:endParaRPr lang="en-US" dirty="0"/>
          </a:p>
          <a:p>
            <a:r>
              <a:rPr dirty="0" err="1"/>
              <a:t>유사사례</a:t>
            </a:r>
            <a:r>
              <a:rPr dirty="0"/>
              <a:t> 1~3개를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 </a:t>
            </a:r>
            <a:r>
              <a:rPr dirty="0" err="1"/>
              <a:t>상황과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살펴</a:t>
            </a:r>
            <a:r>
              <a:rPr lang="ko-KR" altLang="en-US" dirty="0"/>
              <a:t>보고</a:t>
            </a:r>
            <a:r>
              <a:rPr dirty="0"/>
              <a:t> </a:t>
            </a:r>
            <a:r>
              <a:rPr dirty="0" err="1"/>
              <a:t>사실로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한계와</a:t>
            </a:r>
            <a:r>
              <a:rPr dirty="0"/>
              <a:t> </a:t>
            </a:r>
            <a:r>
              <a:rPr dirty="0" err="1"/>
              <a:t>팀의</a:t>
            </a:r>
            <a:r>
              <a:rPr dirty="0"/>
              <a:t> </a:t>
            </a:r>
            <a:r>
              <a:rPr lang="ko-KR" altLang="en-US" dirty="0"/>
              <a:t>개선방향</a:t>
            </a:r>
            <a:r>
              <a:rPr dirty="0"/>
              <a:t> </a:t>
            </a:r>
            <a:r>
              <a:rPr dirty="0" err="1"/>
              <a:t>적으세요</a:t>
            </a:r>
            <a:r>
              <a:rPr dirty="0"/>
              <a:t>.</a:t>
            </a:r>
          </a:p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연구질문</a:t>
            </a:r>
            <a:r>
              <a:rPr dirty="0"/>
              <a:t> 1개를 </a:t>
            </a:r>
            <a:r>
              <a:rPr dirty="0" err="1"/>
              <a:t>발표에서</a:t>
            </a:r>
            <a:r>
              <a:rPr dirty="0"/>
              <a:t> </a:t>
            </a:r>
            <a:r>
              <a:rPr dirty="0" err="1"/>
              <a:t>선명하게</a:t>
            </a:r>
            <a:r>
              <a:rPr dirty="0"/>
              <a:t> </a:t>
            </a:r>
            <a:r>
              <a:rPr dirty="0" err="1"/>
              <a:t>설명하고</a:t>
            </a:r>
            <a:r>
              <a:rPr dirty="0"/>
              <a:t>, </a:t>
            </a:r>
            <a:r>
              <a:rPr dirty="0" err="1"/>
              <a:t>필요하면</a:t>
            </a:r>
            <a:r>
              <a:rPr dirty="0"/>
              <a:t> </a:t>
            </a:r>
            <a:r>
              <a:rPr dirty="0" err="1"/>
              <a:t>보조</a:t>
            </a:r>
            <a:r>
              <a:rPr dirty="0"/>
              <a:t> </a:t>
            </a:r>
            <a:r>
              <a:rPr dirty="0" err="1"/>
              <a:t>질문을</a:t>
            </a:r>
            <a:r>
              <a:rPr dirty="0"/>
              <a:t> </a:t>
            </a:r>
            <a:r>
              <a:rPr dirty="0" err="1"/>
              <a:t>노트에</a:t>
            </a:r>
            <a:r>
              <a:rPr dirty="0"/>
              <a:t> </a:t>
            </a:r>
            <a:r>
              <a:rPr dirty="0" err="1"/>
              <a:t>추가하세요</a:t>
            </a:r>
            <a:r>
              <a:rPr dirty="0"/>
              <a:t>.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지표는</a:t>
            </a:r>
            <a:r>
              <a:rPr dirty="0"/>
              <a:t> </a:t>
            </a:r>
            <a:r>
              <a:rPr dirty="0" err="1"/>
              <a:t>과업</a:t>
            </a:r>
            <a:r>
              <a:rPr dirty="0"/>
              <a:t>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,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횟수</a:t>
            </a:r>
            <a:r>
              <a:rPr dirty="0"/>
              <a:t>, </a:t>
            </a:r>
            <a:r>
              <a:rPr dirty="0" err="1"/>
              <a:t>성공률</a:t>
            </a:r>
            <a:r>
              <a:rPr dirty="0"/>
              <a:t>, </a:t>
            </a:r>
            <a:r>
              <a:rPr dirty="0" err="1"/>
              <a:t>이해도</a:t>
            </a:r>
            <a:r>
              <a:rPr dirty="0"/>
              <a:t> 등 </a:t>
            </a:r>
            <a:r>
              <a:rPr dirty="0" err="1"/>
              <a:t>문제와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관련된</a:t>
            </a:r>
            <a:r>
              <a:rPr dirty="0"/>
              <a:t> </a:t>
            </a:r>
            <a:r>
              <a:rPr dirty="0" err="1"/>
              <a:t>지표를</a:t>
            </a:r>
            <a:r>
              <a:rPr dirty="0"/>
              <a:t> </a:t>
            </a:r>
            <a:r>
              <a:rPr dirty="0" err="1"/>
              <a:t>선택하세요</a:t>
            </a:r>
            <a:r>
              <a:rPr lang="en-US" dirty="0"/>
              <a:t>.</a:t>
            </a:r>
            <a:r>
              <a:rPr dirty="0"/>
              <a:t> </a:t>
            </a:r>
            <a:r>
              <a:rPr dirty="0" err="1"/>
              <a:t>발표에서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: 왜 이 </a:t>
            </a:r>
            <a:r>
              <a:rPr dirty="0" err="1"/>
              <a:t>경험</a:t>
            </a:r>
            <a:r>
              <a:rPr dirty="0"/>
              <a:t> </a:t>
            </a:r>
            <a:r>
              <a:rPr dirty="0" err="1"/>
              <a:t>개선이</a:t>
            </a:r>
            <a:r>
              <a:rPr dirty="0"/>
              <a:t> </a:t>
            </a:r>
            <a:r>
              <a:rPr dirty="0" err="1"/>
              <a:t>필요하고</a:t>
            </a:r>
            <a:r>
              <a:rPr dirty="0"/>
              <a:t>,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확인할</a:t>
            </a:r>
            <a:r>
              <a:rPr dirty="0"/>
              <a:t> </a:t>
            </a:r>
            <a:r>
              <a:rPr dirty="0" err="1"/>
              <a:t>것인지</a:t>
            </a:r>
            <a:r>
              <a:rPr dirty="0"/>
              <a:t>.</a:t>
            </a:r>
          </a:p>
          <a:p>
            <a:r>
              <a:rPr dirty="0" err="1"/>
              <a:t>출처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링크</a:t>
            </a:r>
            <a:r>
              <a:rPr dirty="0"/>
              <a:t> / </a:t>
            </a:r>
            <a:r>
              <a:rPr dirty="0" err="1"/>
              <a:t>보조</a:t>
            </a:r>
            <a:r>
              <a:rPr dirty="0"/>
              <a:t> </a:t>
            </a:r>
            <a:r>
              <a:rPr dirty="0" err="1"/>
              <a:t>연구질문</a:t>
            </a:r>
            <a:r>
              <a:rPr dirty="0"/>
              <a:t>: [</a:t>
            </a:r>
            <a:r>
              <a:rPr dirty="0" err="1"/>
              <a:t>입력</a:t>
            </a:r>
            <a:r>
              <a:rPr dirty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3장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개념은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, </a:t>
            </a: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가치</a:t>
            </a:r>
            <a:r>
              <a:rPr dirty="0"/>
              <a:t>, </a:t>
            </a:r>
            <a:r>
              <a:rPr dirty="0" err="1"/>
              <a:t>제작</a:t>
            </a:r>
            <a:r>
              <a:rPr dirty="0"/>
              <a:t> </a:t>
            </a:r>
            <a:r>
              <a:rPr dirty="0" err="1"/>
              <a:t>형태를</a:t>
            </a:r>
            <a:r>
              <a:rPr dirty="0"/>
              <a:t> 한 </a:t>
            </a:r>
            <a:r>
              <a:rPr dirty="0" err="1"/>
              <a:t>문장으로</a:t>
            </a:r>
            <a:r>
              <a:rPr dirty="0"/>
              <a:t> </a:t>
            </a:r>
            <a:r>
              <a:rPr dirty="0" err="1"/>
              <a:t>설명합니다</a:t>
            </a:r>
            <a:r>
              <a:rPr dirty="0"/>
              <a:t>.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과업을</a:t>
            </a:r>
            <a:r>
              <a:rPr dirty="0"/>
              <a:t> </a:t>
            </a:r>
            <a:r>
              <a:rPr dirty="0" err="1"/>
              <a:t>대표하는</a:t>
            </a:r>
            <a:r>
              <a:rPr dirty="0"/>
              <a:t> </a:t>
            </a:r>
            <a:r>
              <a:rPr dirty="0" err="1"/>
              <a:t>시나리오</a:t>
            </a:r>
            <a:r>
              <a:rPr dirty="0"/>
              <a:t> 1개를 </a:t>
            </a:r>
            <a:r>
              <a:rPr dirty="0" err="1"/>
              <a:t>짧게</a:t>
            </a:r>
            <a:r>
              <a:rPr dirty="0"/>
              <a:t> </a:t>
            </a:r>
            <a:r>
              <a:rPr dirty="0" err="1"/>
              <a:t>제시하세요</a:t>
            </a:r>
            <a:r>
              <a:rPr dirty="0"/>
              <a:t>. </a:t>
            </a:r>
            <a:r>
              <a:rPr dirty="0" err="1"/>
              <a:t>상세</a:t>
            </a:r>
            <a:r>
              <a:rPr dirty="0"/>
              <a:t> User </a:t>
            </a:r>
            <a:r>
              <a:rPr dirty="0" err="1"/>
              <a:t>Flow와</a:t>
            </a:r>
            <a:r>
              <a:rPr dirty="0"/>
              <a:t> </a:t>
            </a:r>
            <a:r>
              <a:rPr dirty="0" err="1"/>
              <a:t>UI는</a:t>
            </a:r>
            <a:r>
              <a:rPr dirty="0"/>
              <a:t> 6~8주차에 </a:t>
            </a:r>
            <a:r>
              <a:rPr dirty="0" err="1"/>
              <a:t>발전시킵니다</a:t>
            </a:r>
            <a:r>
              <a:rPr dirty="0"/>
              <a:t>.</a:t>
            </a:r>
          </a:p>
          <a:p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인사이트를</a:t>
            </a:r>
            <a:r>
              <a:rPr dirty="0"/>
              <a:t> </a:t>
            </a:r>
            <a:r>
              <a:rPr dirty="0" err="1"/>
              <a:t>해결하기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것부터</a:t>
            </a:r>
            <a:r>
              <a:rPr dirty="0"/>
              <a:t> </a:t>
            </a:r>
            <a:r>
              <a:rPr dirty="0" err="1"/>
              <a:t>선정하세요</a:t>
            </a:r>
            <a:r>
              <a:rPr dirty="0"/>
              <a:t>. </a:t>
            </a:r>
            <a:r>
              <a:rPr dirty="0" err="1"/>
              <a:t>로그인</a:t>
            </a:r>
            <a:r>
              <a:rPr dirty="0"/>
              <a:t>, </a:t>
            </a:r>
            <a:r>
              <a:rPr dirty="0" err="1"/>
              <a:t>회원가입</a:t>
            </a:r>
            <a:r>
              <a:rPr dirty="0"/>
              <a:t> 등 </a:t>
            </a:r>
            <a:r>
              <a:rPr dirty="0" err="1"/>
              <a:t>보조</a:t>
            </a:r>
            <a:r>
              <a:rPr dirty="0"/>
              <a:t> </a:t>
            </a:r>
            <a:r>
              <a:rPr dirty="0" err="1"/>
              <a:t>기능보다</a:t>
            </a:r>
            <a:r>
              <a:rPr dirty="0"/>
              <a:t> 사용자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해결에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기여하는</a:t>
            </a:r>
            <a:r>
              <a:rPr dirty="0"/>
              <a:t> 2~3개를 </a:t>
            </a:r>
            <a:r>
              <a:rPr dirty="0" err="1"/>
              <a:t>설명하세요</a:t>
            </a:r>
            <a:r>
              <a:rPr dirty="0"/>
              <a:t>.</a:t>
            </a:r>
          </a:p>
          <a:p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학기말까지</a:t>
            </a:r>
            <a:r>
              <a:rPr dirty="0"/>
              <a:t> </a:t>
            </a:r>
            <a:r>
              <a:rPr dirty="0" err="1"/>
              <a:t>구현할</a:t>
            </a:r>
            <a:r>
              <a:rPr dirty="0"/>
              <a:t>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기능입니다</a:t>
            </a:r>
            <a:r>
              <a:rPr dirty="0"/>
              <a:t>. </a:t>
            </a:r>
            <a:r>
              <a:rPr dirty="0" err="1"/>
              <a:t>완료</a:t>
            </a:r>
            <a:r>
              <a:rPr dirty="0"/>
              <a:t> </a:t>
            </a:r>
            <a:r>
              <a:rPr dirty="0" err="1"/>
              <a:t>기준은</a:t>
            </a:r>
            <a:r>
              <a:rPr dirty="0"/>
              <a:t> '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완성'처럼</a:t>
            </a:r>
            <a:r>
              <a:rPr dirty="0"/>
              <a:t> </a:t>
            </a:r>
            <a:r>
              <a:rPr dirty="0" err="1"/>
              <a:t>추상적으로</a:t>
            </a:r>
            <a:r>
              <a:rPr dirty="0"/>
              <a:t> </a:t>
            </a:r>
            <a:r>
              <a:rPr dirty="0" err="1"/>
              <a:t>쓰지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 '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조건에</a:t>
            </a:r>
            <a:r>
              <a:rPr dirty="0"/>
              <a:t> </a:t>
            </a:r>
            <a:r>
              <a:rPr dirty="0" err="1"/>
              <a:t>맞는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이유를</a:t>
            </a:r>
            <a:r>
              <a:rPr dirty="0"/>
              <a:t> </a:t>
            </a:r>
            <a:r>
              <a:rPr dirty="0" err="1"/>
              <a:t>표시하고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조회할</a:t>
            </a:r>
            <a:r>
              <a:rPr dirty="0"/>
              <a:t> 수 </a:t>
            </a:r>
            <a:r>
              <a:rPr dirty="0" err="1"/>
              <a:t>있음'처럼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동작으로</a:t>
            </a:r>
            <a:r>
              <a:rPr dirty="0"/>
              <a:t> </a:t>
            </a:r>
            <a:r>
              <a:rPr dirty="0" err="1"/>
              <a:t>작성하세요</a:t>
            </a:r>
            <a:r>
              <a:rPr dirty="0"/>
              <a:t>.</a:t>
            </a:r>
          </a:p>
          <a:p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일정에</a:t>
            </a:r>
            <a:r>
              <a:rPr dirty="0"/>
              <a:t> </a:t>
            </a:r>
            <a:r>
              <a:rPr dirty="0" err="1"/>
              <a:t>여유가</a:t>
            </a:r>
            <a:r>
              <a:rPr dirty="0"/>
              <a:t> </a:t>
            </a:r>
            <a:r>
              <a:rPr dirty="0" err="1"/>
              <a:t>있을</a:t>
            </a:r>
            <a:r>
              <a:rPr dirty="0"/>
              <a:t> 때 </a:t>
            </a:r>
            <a:r>
              <a:rPr dirty="0" err="1"/>
              <a:t>구현합니다</a:t>
            </a:r>
            <a:r>
              <a:rPr dirty="0"/>
              <a:t>. </a:t>
            </a:r>
            <a:r>
              <a:rPr dirty="0" err="1"/>
              <a:t>제외</a:t>
            </a:r>
            <a:r>
              <a:rPr dirty="0"/>
              <a:t> </a:t>
            </a:r>
            <a:r>
              <a:rPr dirty="0" err="1"/>
              <a:t>범위에는</a:t>
            </a:r>
            <a:r>
              <a:rPr dirty="0"/>
              <a:t> </a:t>
            </a:r>
            <a:r>
              <a:rPr dirty="0" err="1"/>
              <a:t>지원하지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, 사용자,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명시하세요</a:t>
            </a:r>
            <a:r>
              <a:rPr dirty="0"/>
              <a:t>.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결과에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축소하거나</a:t>
            </a:r>
            <a:r>
              <a:rPr dirty="0"/>
              <a:t> </a:t>
            </a:r>
            <a:r>
              <a:rPr dirty="0" err="1"/>
              <a:t>대안을</a:t>
            </a:r>
            <a:r>
              <a:rPr dirty="0"/>
              <a:t> </a:t>
            </a:r>
            <a:r>
              <a:rPr dirty="0" err="1"/>
              <a:t>선택할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r>
              <a:rPr dirty="0" err="1"/>
              <a:t>발표에서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, </a:t>
            </a:r>
            <a:r>
              <a:rPr dirty="0" err="1"/>
              <a:t>어디까지</a:t>
            </a:r>
            <a:r>
              <a:rPr dirty="0"/>
              <a:t> </a:t>
            </a:r>
            <a:r>
              <a:rPr dirty="0" err="1"/>
              <a:t>작동시키며</a:t>
            </a:r>
            <a:r>
              <a:rPr dirty="0"/>
              <a:t>, </a:t>
            </a:r>
            <a:r>
              <a:rPr dirty="0" err="1"/>
              <a:t>어떤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제외하는지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4장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r>
              <a:rPr dirty="0" err="1"/>
              <a:t>구조도는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예시입니다</a:t>
            </a:r>
            <a:r>
              <a:rPr dirty="0"/>
              <a:t>. </a:t>
            </a:r>
            <a:r>
              <a:rPr dirty="0" err="1"/>
              <a:t>화살표에</a:t>
            </a:r>
            <a:r>
              <a:rPr dirty="0"/>
              <a:t> </a:t>
            </a:r>
            <a:r>
              <a:rPr dirty="0" err="1"/>
              <a:t>전달하는</a:t>
            </a:r>
            <a:r>
              <a:rPr dirty="0"/>
              <a:t> </a:t>
            </a:r>
            <a:r>
              <a:rPr dirty="0" err="1"/>
              <a:t>데이터나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내용을</a:t>
            </a:r>
            <a:r>
              <a:rPr dirty="0"/>
              <a:t> </a:t>
            </a:r>
            <a:r>
              <a:rPr dirty="0" err="1"/>
              <a:t>적고</a:t>
            </a:r>
            <a:r>
              <a:rPr dirty="0"/>
              <a:t>,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반환</a:t>
            </a:r>
            <a:r>
              <a:rPr dirty="0"/>
              <a:t> </a:t>
            </a:r>
            <a:r>
              <a:rPr dirty="0" err="1"/>
              <a:t>경로도</a:t>
            </a:r>
            <a:r>
              <a:rPr dirty="0"/>
              <a:t> </a:t>
            </a:r>
            <a:r>
              <a:rPr dirty="0" err="1"/>
              <a:t>설명하세요</a:t>
            </a:r>
            <a:r>
              <a:rPr dirty="0"/>
              <a:t>. </a:t>
            </a:r>
            <a:r>
              <a:rPr dirty="0" err="1"/>
              <a:t>필요하면</a:t>
            </a:r>
            <a:r>
              <a:rPr dirty="0"/>
              <a:t> </a:t>
            </a:r>
            <a:r>
              <a:rPr dirty="0" err="1"/>
              <a:t>도형과</a:t>
            </a:r>
            <a:r>
              <a:rPr dirty="0"/>
              <a:t> </a:t>
            </a:r>
            <a:r>
              <a:rPr dirty="0" err="1"/>
              <a:t>연결선을</a:t>
            </a:r>
            <a:r>
              <a:rPr dirty="0"/>
              <a:t> </a:t>
            </a:r>
            <a:r>
              <a:rPr dirty="0" err="1"/>
              <a:t>복제하거나</a:t>
            </a:r>
            <a:r>
              <a:rPr dirty="0"/>
              <a:t> </a:t>
            </a:r>
            <a:r>
              <a:rPr dirty="0" err="1"/>
              <a:t>재배치하세요</a:t>
            </a:r>
            <a:r>
              <a:rPr dirty="0"/>
              <a:t>.</a:t>
            </a:r>
          </a:p>
          <a:p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테스트는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불확실한</a:t>
            </a:r>
            <a:r>
              <a:rPr dirty="0"/>
              <a:t> </a:t>
            </a:r>
            <a:r>
              <a:rPr dirty="0" err="1"/>
              <a:t>부분부터</a:t>
            </a:r>
            <a:r>
              <a:rPr dirty="0"/>
              <a:t> </a:t>
            </a:r>
            <a:r>
              <a:rPr dirty="0" err="1"/>
              <a:t>수행합니다</a:t>
            </a:r>
            <a:r>
              <a:rPr dirty="0"/>
              <a:t>. </a:t>
            </a:r>
            <a:r>
              <a:rPr dirty="0" err="1"/>
              <a:t>테스트</a:t>
            </a:r>
            <a:r>
              <a:rPr dirty="0"/>
              <a:t> 전 </a:t>
            </a:r>
            <a:r>
              <a:rPr dirty="0" err="1"/>
              <a:t>성공</a:t>
            </a:r>
            <a:r>
              <a:rPr dirty="0"/>
              <a:t> </a:t>
            </a:r>
            <a:r>
              <a:rPr dirty="0" err="1"/>
              <a:t>기준을</a:t>
            </a:r>
            <a:r>
              <a:rPr dirty="0"/>
              <a:t> </a:t>
            </a:r>
            <a:r>
              <a:rPr dirty="0" err="1"/>
              <a:t>정하고</a:t>
            </a:r>
            <a:r>
              <a:rPr dirty="0"/>
              <a:t>,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예시</a:t>
            </a:r>
            <a:r>
              <a:rPr dirty="0"/>
              <a:t>, </a:t>
            </a:r>
            <a:r>
              <a:rPr dirty="0" err="1"/>
              <a:t>환경</a:t>
            </a:r>
            <a:r>
              <a:rPr dirty="0"/>
              <a:t>, </a:t>
            </a:r>
            <a:r>
              <a:rPr dirty="0" err="1"/>
              <a:t>정상·실패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기록하세요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lang="ko-KR" altLang="en-US" dirty="0"/>
              <a:t>측정값</a:t>
            </a:r>
            <a:r>
              <a:rPr lang="en-US" altLang="ko-KR" dirty="0"/>
              <a:t>,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화면</a:t>
            </a:r>
            <a:r>
              <a:rPr lang="en-US" dirty="0"/>
              <a:t> </a:t>
            </a:r>
            <a:r>
              <a:rPr lang="ko-KR" altLang="en-US" dirty="0"/>
              <a:t>등으로</a:t>
            </a:r>
            <a:r>
              <a:rPr dirty="0"/>
              <a:t> </a:t>
            </a:r>
            <a:r>
              <a:rPr dirty="0" err="1"/>
              <a:t>입증하세요</a:t>
            </a:r>
            <a:r>
              <a:rPr dirty="0"/>
              <a:t>. </a:t>
            </a:r>
            <a:r>
              <a:rPr dirty="0" err="1"/>
              <a:t>화면</a:t>
            </a:r>
            <a:r>
              <a:rPr lang="en-US" dirty="0"/>
              <a:t>(</a:t>
            </a:r>
            <a:r>
              <a:rPr lang="ko-KR" altLang="en-US" dirty="0"/>
              <a:t>핵심 장면</a:t>
            </a:r>
            <a:r>
              <a:rPr lang="en-US" dirty="0"/>
              <a:t>)</a:t>
            </a:r>
            <a:r>
              <a:rPr dirty="0"/>
              <a:t>은 </a:t>
            </a:r>
            <a:r>
              <a:rPr dirty="0" err="1"/>
              <a:t>표의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칸 </a:t>
            </a:r>
            <a:r>
              <a:rPr dirty="0" err="1"/>
              <a:t>또는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영역에</a:t>
            </a:r>
            <a:r>
              <a:rPr dirty="0"/>
              <a:t> 넣</a:t>
            </a:r>
            <a:r>
              <a:rPr lang="ko-KR" altLang="en-US" dirty="0" err="1"/>
              <a:t>으세요</a:t>
            </a:r>
            <a:r>
              <a:rPr lang="en-US" altLang="ko-KR" dirty="0"/>
              <a:t> (</a:t>
            </a:r>
            <a:r>
              <a:rPr lang="ko-KR" altLang="en-US" dirty="0" err="1"/>
              <a:t>미실시</a:t>
            </a:r>
            <a:r>
              <a:rPr lang="ko-KR" altLang="en-US" dirty="0"/>
              <a:t> 결과를 성공으로 표시하지 마세요</a:t>
            </a:r>
            <a:r>
              <a:rPr lang="en-US" altLang="ko-KR" dirty="0"/>
              <a:t>)</a:t>
            </a:r>
            <a:r>
              <a:rPr dirty="0"/>
              <a:t>. </a:t>
            </a:r>
            <a:r>
              <a:rPr dirty="0" err="1"/>
              <a:t>실패해도</a:t>
            </a:r>
            <a:r>
              <a:rPr dirty="0"/>
              <a:t> </a:t>
            </a:r>
            <a:r>
              <a:rPr dirty="0" err="1"/>
              <a:t>원인</a:t>
            </a:r>
            <a:r>
              <a:rPr lang="ko-KR" altLang="en-US" dirty="0"/>
              <a:t>과</a:t>
            </a:r>
            <a:r>
              <a:rPr dirty="0"/>
              <a:t> </a:t>
            </a:r>
            <a:r>
              <a:rPr dirty="0" err="1"/>
              <a:t>대안이</a:t>
            </a:r>
            <a:r>
              <a:rPr dirty="0"/>
              <a:t> </a:t>
            </a:r>
            <a:r>
              <a:rPr dirty="0" err="1"/>
              <a:t>구체적이면</a:t>
            </a:r>
            <a:r>
              <a:rPr dirty="0"/>
              <a:t> </a:t>
            </a:r>
            <a:r>
              <a:rPr dirty="0" err="1"/>
              <a:t>제안서에</a:t>
            </a:r>
            <a:r>
              <a:rPr dirty="0"/>
              <a:t> </a:t>
            </a:r>
            <a:r>
              <a:rPr dirty="0" err="1"/>
              <a:t>의미가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 사용자 </a:t>
            </a:r>
            <a:r>
              <a:rPr dirty="0" err="1"/>
              <a:t>경험의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검증하는</a:t>
            </a:r>
            <a:r>
              <a:rPr dirty="0"/>
              <a:t> </a:t>
            </a:r>
            <a:r>
              <a:rPr dirty="0" err="1"/>
              <a:t>연구질문과</a:t>
            </a:r>
            <a:r>
              <a:rPr dirty="0"/>
              <a:t> </a:t>
            </a:r>
            <a:r>
              <a:rPr dirty="0" err="1"/>
              <a:t>기술이</a:t>
            </a:r>
            <a:r>
              <a:rPr dirty="0"/>
              <a:t> </a:t>
            </a:r>
            <a:r>
              <a:rPr dirty="0" err="1"/>
              <a:t>작동하는지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구분하세요</a:t>
            </a:r>
            <a:r>
              <a:rPr dirty="0"/>
              <a:t>.</a:t>
            </a:r>
          </a:p>
          <a:p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불확실성이</a:t>
            </a:r>
            <a:r>
              <a:rPr dirty="0"/>
              <a:t> </a:t>
            </a:r>
            <a:r>
              <a:rPr dirty="0" err="1"/>
              <a:t>해소되지</a:t>
            </a:r>
            <a:r>
              <a:rPr dirty="0"/>
              <a:t> </a:t>
            </a:r>
            <a:r>
              <a:rPr dirty="0" err="1"/>
              <a:t>않았으면</a:t>
            </a:r>
            <a:r>
              <a:rPr dirty="0"/>
              <a:t> 3장의 </a:t>
            </a:r>
            <a:r>
              <a:rPr dirty="0" err="1"/>
              <a:t>범위와</a:t>
            </a:r>
            <a:r>
              <a:rPr dirty="0"/>
              <a:t> 5장의 </a:t>
            </a:r>
            <a:r>
              <a:rPr dirty="0" err="1"/>
              <a:t>일정에</a:t>
            </a:r>
            <a:r>
              <a:rPr dirty="0"/>
              <a:t> </a:t>
            </a:r>
            <a:r>
              <a:rPr dirty="0" err="1"/>
              <a:t>대안·재검증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반영하세요</a:t>
            </a:r>
            <a:r>
              <a:rPr dirty="0"/>
              <a:t>.</a:t>
            </a:r>
          </a:p>
          <a:p>
            <a:r>
              <a:rPr dirty="0" err="1"/>
              <a:t>발표에서</a:t>
            </a:r>
            <a:r>
              <a:rPr dirty="0"/>
              <a:t> </a:t>
            </a:r>
            <a:r>
              <a:rPr dirty="0" err="1"/>
              <a:t>설명할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확인한</a:t>
            </a:r>
            <a:r>
              <a:rPr dirty="0"/>
              <a:t> </a:t>
            </a:r>
            <a:r>
              <a:rPr dirty="0" err="1"/>
              <a:t>부분</a:t>
            </a:r>
            <a:r>
              <a:rPr dirty="0"/>
              <a:t>, </a:t>
            </a:r>
            <a:r>
              <a:rPr dirty="0" err="1"/>
              <a:t>남은</a:t>
            </a:r>
            <a:r>
              <a:rPr dirty="0"/>
              <a:t> </a:t>
            </a:r>
            <a:r>
              <a:rPr dirty="0" err="1"/>
              <a:t>위험과</a:t>
            </a:r>
            <a:r>
              <a:rPr dirty="0"/>
              <a:t> </a:t>
            </a:r>
            <a:r>
              <a:rPr dirty="0" err="1"/>
              <a:t>대안</a:t>
            </a:r>
            <a:r>
              <a:rPr dirty="0"/>
              <a:t>.</a:t>
            </a:r>
            <a:endParaRPr lang="ko-KR" altLang="en-US" dirty="0"/>
          </a:p>
          <a:p>
            <a:r>
              <a:rPr lang="ko-KR" altLang="en-US" dirty="0"/>
              <a:t>기술 테스트 실행 증거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ppt</a:t>
            </a:r>
            <a:r>
              <a:rPr lang="ko-KR" altLang="en-US" dirty="0"/>
              <a:t>와 함께 제출하세요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5장 </a:t>
            </a:r>
            <a:r>
              <a:rPr dirty="0" err="1"/>
              <a:t>작성</a:t>
            </a:r>
            <a:r>
              <a:rPr dirty="0"/>
              <a:t> </a:t>
            </a:r>
            <a:r>
              <a:rPr dirty="0" err="1"/>
              <a:t>안내</a:t>
            </a:r>
            <a:endParaRPr dirty="0"/>
          </a:p>
          <a:p>
            <a:r>
              <a:rPr dirty="0" err="1"/>
              <a:t>일정의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구간은</a:t>
            </a:r>
            <a:r>
              <a:rPr dirty="0"/>
              <a:t> </a:t>
            </a:r>
            <a:r>
              <a:rPr dirty="0" err="1"/>
              <a:t>강의계획서에</a:t>
            </a:r>
            <a:r>
              <a:rPr dirty="0"/>
              <a:t> </a:t>
            </a:r>
            <a:r>
              <a:rPr dirty="0" err="1"/>
              <a:t>맞췄습니다</a:t>
            </a:r>
            <a:r>
              <a:rPr dirty="0"/>
              <a:t>. 6~8주차 </a:t>
            </a:r>
            <a:r>
              <a:rPr dirty="0" err="1"/>
              <a:t>기획·설계</a:t>
            </a:r>
            <a:r>
              <a:rPr dirty="0"/>
              <a:t>, 9주차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, 10~13주차 </a:t>
            </a:r>
            <a:r>
              <a:rPr dirty="0" err="1"/>
              <a:t>제작</a:t>
            </a:r>
            <a:r>
              <a:rPr dirty="0"/>
              <a:t>, 14주차 </a:t>
            </a:r>
            <a:r>
              <a:rPr dirty="0" err="1"/>
              <a:t>발표·시연</a:t>
            </a:r>
            <a:r>
              <a:rPr dirty="0"/>
              <a:t>, 15주차 </a:t>
            </a:r>
            <a:r>
              <a:rPr dirty="0" err="1"/>
              <a:t>성찰을</a:t>
            </a:r>
            <a:r>
              <a:rPr dirty="0"/>
              <a:t> </a:t>
            </a:r>
            <a:r>
              <a:rPr dirty="0" err="1"/>
              <a:t>유지하면서</a:t>
            </a:r>
            <a:r>
              <a:rPr dirty="0"/>
              <a:t> </a:t>
            </a:r>
            <a:r>
              <a:rPr dirty="0" err="1"/>
              <a:t>팀별</a:t>
            </a:r>
            <a:r>
              <a:rPr dirty="0"/>
              <a:t>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마감과</a:t>
            </a:r>
            <a:r>
              <a:rPr dirty="0"/>
              <a:t> </a:t>
            </a:r>
            <a:r>
              <a:rPr dirty="0" err="1"/>
              <a:t>산출물을</a:t>
            </a:r>
            <a:r>
              <a:rPr dirty="0"/>
              <a:t> </a:t>
            </a:r>
            <a:r>
              <a:rPr dirty="0" err="1"/>
              <a:t>채우세요</a:t>
            </a:r>
            <a:r>
              <a:rPr dirty="0"/>
              <a:t>.</a:t>
            </a:r>
          </a:p>
          <a:p>
            <a:r>
              <a:rPr dirty="0" err="1"/>
              <a:t>기획·디자인·개발을</a:t>
            </a:r>
            <a:r>
              <a:rPr dirty="0"/>
              <a:t> </a:t>
            </a:r>
            <a:r>
              <a:rPr dirty="0" err="1"/>
              <a:t>단절된</a:t>
            </a:r>
            <a:r>
              <a:rPr dirty="0"/>
              <a:t> </a:t>
            </a:r>
            <a:r>
              <a:rPr dirty="0" err="1"/>
              <a:t>작업으로만</a:t>
            </a:r>
            <a:r>
              <a:rPr dirty="0"/>
              <a:t> </a:t>
            </a:r>
            <a:r>
              <a:rPr dirty="0" err="1"/>
              <a:t>보지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 </a:t>
            </a:r>
            <a:r>
              <a:rPr lang="ko-KR" altLang="en-US" dirty="0"/>
              <a:t>핵심 </a:t>
            </a:r>
            <a:r>
              <a:rPr dirty="0" err="1"/>
              <a:t>기술</a:t>
            </a:r>
            <a:r>
              <a:rPr dirty="0"/>
              <a:t> </a:t>
            </a:r>
            <a:r>
              <a:rPr lang="ko-KR" altLang="en-US" dirty="0"/>
              <a:t>개발과</a:t>
            </a:r>
            <a:r>
              <a:rPr dirty="0"/>
              <a:t> 사용자</a:t>
            </a:r>
            <a:r>
              <a:rPr lang="en-US" dirty="0"/>
              <a:t> </a:t>
            </a:r>
            <a:r>
              <a:rPr dirty="0" err="1"/>
              <a:t>피드백</a:t>
            </a:r>
            <a:r>
              <a:rPr lang="en-US" dirty="0"/>
              <a:t> </a:t>
            </a:r>
            <a:r>
              <a:rPr lang="ko-KR" altLang="en-US" dirty="0"/>
              <a:t>등이 함께 진행하세요</a:t>
            </a:r>
            <a:r>
              <a:rPr dirty="0"/>
              <a:t>. 10~13주차 </a:t>
            </a:r>
            <a:r>
              <a:rPr dirty="0" err="1"/>
              <a:t>안에서는</a:t>
            </a:r>
            <a:r>
              <a:rPr dirty="0"/>
              <a:t> </a:t>
            </a:r>
            <a:r>
              <a:rPr lang="ko-KR" altLang="en-US" dirty="0"/>
              <a:t>전체적인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, </a:t>
            </a:r>
            <a:r>
              <a:rPr dirty="0" err="1"/>
              <a:t>연동</a:t>
            </a:r>
            <a:r>
              <a:rPr dirty="0"/>
              <a:t>, 사용자 </a:t>
            </a:r>
            <a:r>
              <a:rPr dirty="0" err="1"/>
              <a:t>평가</a:t>
            </a:r>
            <a:r>
              <a:rPr dirty="0"/>
              <a:t>,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수정을</a:t>
            </a:r>
            <a:r>
              <a:rPr dirty="0"/>
              <a:t> </a:t>
            </a:r>
            <a:r>
              <a:rPr dirty="0" err="1"/>
              <a:t>구체적으로</a:t>
            </a:r>
            <a:r>
              <a:rPr dirty="0"/>
              <a:t> </a:t>
            </a:r>
            <a:r>
              <a:rPr dirty="0" err="1"/>
              <a:t>배분하세요</a:t>
            </a:r>
            <a:r>
              <a:rPr dirty="0"/>
              <a:t>.</a:t>
            </a:r>
          </a:p>
          <a:p>
            <a:r>
              <a:rPr dirty="0" err="1"/>
              <a:t>역할은</a:t>
            </a:r>
            <a:r>
              <a:rPr dirty="0"/>
              <a:t> '</a:t>
            </a:r>
            <a:r>
              <a:rPr dirty="0" err="1"/>
              <a:t>디자인</a:t>
            </a:r>
            <a:r>
              <a:rPr dirty="0"/>
              <a:t> </a:t>
            </a:r>
            <a:r>
              <a:rPr dirty="0" err="1"/>
              <a:t>담당</a:t>
            </a:r>
            <a:r>
              <a:rPr dirty="0"/>
              <a:t>', '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담당'이라는</a:t>
            </a:r>
            <a:r>
              <a:rPr dirty="0"/>
              <a:t> </a:t>
            </a:r>
            <a:r>
              <a:rPr dirty="0" err="1"/>
              <a:t>직함만</a:t>
            </a:r>
            <a:r>
              <a:rPr dirty="0"/>
              <a:t> </a:t>
            </a:r>
            <a:r>
              <a:rPr dirty="0" err="1"/>
              <a:t>적지</a:t>
            </a:r>
            <a:r>
              <a:rPr dirty="0"/>
              <a:t> </a:t>
            </a:r>
            <a:r>
              <a:rPr dirty="0" err="1"/>
              <a:t>말고</a:t>
            </a:r>
            <a:r>
              <a:rPr dirty="0"/>
              <a:t> </a:t>
            </a:r>
            <a:r>
              <a:rPr dirty="0" err="1"/>
              <a:t>결과물과</a:t>
            </a:r>
            <a:r>
              <a:rPr dirty="0"/>
              <a:t> </a:t>
            </a:r>
            <a:r>
              <a:rPr dirty="0" err="1"/>
              <a:t>마감을</a:t>
            </a:r>
            <a:r>
              <a:rPr dirty="0"/>
              <a:t> </a:t>
            </a:r>
            <a:r>
              <a:rPr dirty="0" err="1"/>
              <a:t>적으세요</a:t>
            </a:r>
            <a:r>
              <a:rPr dirty="0"/>
              <a:t>. </a:t>
            </a:r>
            <a:r>
              <a:rPr lang="en-US" dirty="0"/>
              <a:t>3</a:t>
            </a:r>
            <a:r>
              <a:rPr dirty="0"/>
              <a:t>인 </a:t>
            </a:r>
            <a:r>
              <a:rPr dirty="0" err="1"/>
              <a:t>팀이면</a:t>
            </a:r>
            <a:r>
              <a:rPr dirty="0"/>
              <a:t> </a:t>
            </a:r>
            <a:r>
              <a:rPr dirty="0" err="1"/>
              <a:t>행을</a:t>
            </a:r>
            <a:r>
              <a:rPr dirty="0"/>
              <a:t> </a:t>
            </a:r>
            <a:r>
              <a:rPr lang="ko-KR" altLang="en-US" dirty="0"/>
              <a:t>늘리세요</a:t>
            </a:r>
            <a:r>
              <a:rPr dirty="0"/>
              <a:t>.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작업도</a:t>
            </a:r>
            <a:r>
              <a:rPr dirty="0"/>
              <a:t> </a:t>
            </a:r>
            <a:r>
              <a:rPr lang="ko-KR" altLang="en-US" dirty="0"/>
              <a:t>핵심</a:t>
            </a:r>
            <a:r>
              <a:rPr dirty="0"/>
              <a:t> </a:t>
            </a:r>
            <a:r>
              <a:rPr dirty="0" err="1"/>
              <a:t>책임자가</a:t>
            </a:r>
            <a:r>
              <a:rPr dirty="0"/>
              <a:t> </a:t>
            </a:r>
            <a:r>
              <a:rPr dirty="0" err="1"/>
              <a:t>필요합니다</a:t>
            </a:r>
            <a:r>
              <a:rPr dirty="0"/>
              <a:t>.</a:t>
            </a:r>
          </a:p>
          <a:p>
            <a:r>
              <a:rPr lang="ko-KR" altLang="en-US" dirty="0"/>
              <a:t>컨벤션은 </a:t>
            </a:r>
            <a:r>
              <a:rPr lang="en-US" altLang="ko-KR" dirty="0"/>
              <a:t>'</a:t>
            </a:r>
            <a:r>
              <a:rPr lang="ko-KR" altLang="en-US" dirty="0"/>
              <a:t>소통을 잘한다</a:t>
            </a:r>
            <a:r>
              <a:rPr lang="en-US" altLang="ko-KR" dirty="0"/>
              <a:t>' </a:t>
            </a:r>
            <a:r>
              <a:rPr lang="ko-KR" altLang="en-US" dirty="0"/>
              <a:t>같은 선언 대신 실행 규칙으로 작성하세요</a:t>
            </a:r>
            <a:r>
              <a:rPr dirty="0"/>
              <a:t>. 예: </a:t>
            </a:r>
            <a:r>
              <a:rPr dirty="0" err="1"/>
              <a:t>파일명을</a:t>
            </a:r>
            <a:r>
              <a:rPr dirty="0"/>
              <a:t> </a:t>
            </a:r>
            <a:r>
              <a:rPr dirty="0" err="1"/>
              <a:t>날짜_화면명_버전으로</a:t>
            </a:r>
            <a:r>
              <a:rPr dirty="0"/>
              <a:t> </a:t>
            </a:r>
            <a:r>
              <a:rPr dirty="0" err="1"/>
              <a:t>통일</a:t>
            </a:r>
            <a:r>
              <a:rPr dirty="0"/>
              <a:t>, Figma </a:t>
            </a:r>
            <a:r>
              <a:rPr dirty="0" err="1"/>
              <a:t>컴포넌트</a:t>
            </a:r>
            <a:r>
              <a:rPr dirty="0"/>
              <a:t> </a:t>
            </a:r>
            <a:r>
              <a:rPr dirty="0" err="1"/>
              <a:t>명명법</a:t>
            </a:r>
            <a:r>
              <a:rPr dirty="0"/>
              <a:t> </a:t>
            </a:r>
            <a:r>
              <a:rPr dirty="0" err="1"/>
              <a:t>통일</a:t>
            </a:r>
            <a:r>
              <a:rPr dirty="0"/>
              <a:t>, </a:t>
            </a:r>
            <a:r>
              <a:rPr dirty="0" err="1"/>
              <a:t>기능별</a:t>
            </a:r>
            <a:r>
              <a:rPr dirty="0"/>
              <a:t> Git </a:t>
            </a:r>
            <a:r>
              <a:rPr dirty="0" err="1"/>
              <a:t>브랜치</a:t>
            </a:r>
            <a:r>
              <a:rPr dirty="0"/>
              <a:t> </a:t>
            </a:r>
            <a:r>
              <a:rPr dirty="0" err="1"/>
              <a:t>사용과</a:t>
            </a:r>
            <a:r>
              <a:rPr dirty="0"/>
              <a:t> </a:t>
            </a:r>
            <a:r>
              <a:rPr dirty="0" err="1"/>
              <a:t>병합</a:t>
            </a:r>
            <a:r>
              <a:rPr dirty="0"/>
              <a:t> 전 </a:t>
            </a:r>
            <a:r>
              <a:rPr dirty="0" err="1"/>
              <a:t>상호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, API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필드</a:t>
            </a:r>
            <a:r>
              <a:rPr dirty="0"/>
              <a:t> </a:t>
            </a:r>
            <a:r>
              <a:rPr dirty="0" err="1"/>
              <a:t>이름</a:t>
            </a:r>
            <a:r>
              <a:rPr dirty="0"/>
              <a:t> </a:t>
            </a:r>
            <a:r>
              <a:rPr dirty="0" err="1"/>
              <a:t>통일</a:t>
            </a:r>
            <a:r>
              <a:rPr dirty="0"/>
              <a:t>, </a:t>
            </a:r>
            <a:r>
              <a:rPr dirty="0" err="1"/>
              <a:t>매주</a:t>
            </a:r>
            <a:r>
              <a:rPr dirty="0"/>
              <a:t> </a:t>
            </a:r>
            <a:r>
              <a:rPr dirty="0" err="1"/>
              <a:t>정해진</a:t>
            </a:r>
            <a:r>
              <a:rPr dirty="0"/>
              <a:t> </a:t>
            </a:r>
            <a:r>
              <a:rPr dirty="0" err="1"/>
              <a:t>시간에</a:t>
            </a:r>
            <a:r>
              <a:rPr dirty="0"/>
              <a:t> </a:t>
            </a:r>
            <a:r>
              <a:rPr dirty="0" err="1"/>
              <a:t>진행</a:t>
            </a:r>
            <a:r>
              <a:rPr dirty="0"/>
              <a:t> </a:t>
            </a:r>
            <a:r>
              <a:rPr dirty="0" err="1"/>
              <a:t>상황·막힌</a:t>
            </a:r>
            <a:r>
              <a:rPr dirty="0"/>
              <a:t> 점 </a:t>
            </a:r>
            <a:r>
              <a:rPr dirty="0" err="1"/>
              <a:t>기록</a:t>
            </a:r>
            <a:r>
              <a:rPr dirty="0"/>
              <a:t>. </a:t>
            </a:r>
            <a:r>
              <a:rPr dirty="0" err="1"/>
              <a:t>팀의</a:t>
            </a:r>
            <a:r>
              <a:rPr dirty="0"/>
              <a:t> </a:t>
            </a:r>
            <a:r>
              <a:rPr dirty="0" err="1"/>
              <a:t>도구와</a:t>
            </a:r>
            <a:r>
              <a:rPr dirty="0"/>
              <a:t> </a:t>
            </a:r>
            <a:r>
              <a:rPr dirty="0" err="1"/>
              <a:t>수준에</a:t>
            </a:r>
            <a:r>
              <a:rPr dirty="0"/>
              <a:t> </a:t>
            </a:r>
            <a:r>
              <a:rPr dirty="0" err="1"/>
              <a:t>맞춰</a:t>
            </a:r>
            <a:r>
              <a:rPr dirty="0"/>
              <a:t> 3~4개를 </a:t>
            </a:r>
            <a:r>
              <a:rPr dirty="0" err="1"/>
              <a:t>정하세요</a:t>
            </a:r>
            <a:r>
              <a:rPr dirty="0"/>
              <a:t>.</a:t>
            </a:r>
          </a:p>
          <a:p>
            <a:r>
              <a:rPr dirty="0" err="1"/>
              <a:t>제출</a:t>
            </a:r>
            <a:r>
              <a:rPr dirty="0"/>
              <a:t> 전 </a:t>
            </a:r>
            <a:r>
              <a:rPr dirty="0" err="1"/>
              <a:t>확인</a:t>
            </a:r>
            <a:r>
              <a:rPr dirty="0"/>
              <a:t>: </a:t>
            </a:r>
            <a:r>
              <a:rPr dirty="0" err="1"/>
              <a:t>문제</a:t>
            </a:r>
            <a:r>
              <a:rPr dirty="0"/>
              <a:t> </a:t>
            </a:r>
            <a:r>
              <a:rPr dirty="0" err="1"/>
              <a:t>근거가</a:t>
            </a:r>
            <a:r>
              <a:rPr dirty="0"/>
              <a:t> </a:t>
            </a:r>
            <a:r>
              <a:rPr dirty="0" err="1"/>
              <a:t>있는가</a:t>
            </a:r>
            <a:r>
              <a:rPr dirty="0"/>
              <a:t>? </a:t>
            </a:r>
            <a:r>
              <a:rPr dirty="0" err="1"/>
              <a:t>인사이트가</a:t>
            </a:r>
            <a:r>
              <a:rPr dirty="0"/>
              <a:t> 한 </a:t>
            </a:r>
            <a:r>
              <a:rPr dirty="0" err="1"/>
              <a:t>문장인가</a:t>
            </a:r>
            <a:r>
              <a:rPr dirty="0"/>
              <a:t>? </a:t>
            </a:r>
            <a:r>
              <a:rPr dirty="0" err="1"/>
              <a:t>필수</a:t>
            </a:r>
            <a:r>
              <a:rPr dirty="0"/>
              <a:t> </a:t>
            </a:r>
            <a:r>
              <a:rPr dirty="0" err="1"/>
              <a:t>기능이</a:t>
            </a:r>
            <a:r>
              <a:rPr dirty="0"/>
              <a:t> </a:t>
            </a:r>
            <a:r>
              <a:rPr dirty="0" err="1"/>
              <a:t>문제와</a:t>
            </a:r>
            <a:r>
              <a:rPr dirty="0"/>
              <a:t> </a:t>
            </a:r>
            <a:r>
              <a:rPr dirty="0" err="1"/>
              <a:t>연결되는가</a:t>
            </a:r>
            <a:r>
              <a:rPr dirty="0"/>
              <a:t>?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결과와</a:t>
            </a:r>
            <a:r>
              <a:rPr dirty="0"/>
              <a:t> </a:t>
            </a:r>
            <a:r>
              <a:rPr dirty="0" err="1"/>
              <a:t>미실시</a:t>
            </a:r>
            <a:r>
              <a:rPr dirty="0"/>
              <a:t> </a:t>
            </a:r>
            <a:r>
              <a:rPr dirty="0" err="1"/>
              <a:t>항목을</a:t>
            </a:r>
            <a:r>
              <a:rPr dirty="0"/>
              <a:t> </a:t>
            </a:r>
            <a:r>
              <a:rPr dirty="0" err="1"/>
              <a:t>구분했는가</a:t>
            </a:r>
            <a:r>
              <a:rPr dirty="0"/>
              <a:t>?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팀원의</a:t>
            </a:r>
            <a:r>
              <a:rPr dirty="0"/>
              <a:t> </a:t>
            </a:r>
            <a:r>
              <a:rPr dirty="0" err="1"/>
              <a:t>책임이</a:t>
            </a:r>
            <a:r>
              <a:rPr dirty="0"/>
              <a:t> </a:t>
            </a:r>
            <a:r>
              <a:rPr dirty="0" err="1"/>
              <a:t>명확한가</a:t>
            </a:r>
            <a:r>
              <a:rPr dirty="0"/>
              <a:t>? 총 5장·발표 5분인가?</a:t>
            </a:r>
          </a:p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: </a:t>
            </a:r>
            <a:r>
              <a:rPr dirty="0" err="1"/>
              <a:t>발표</a:t>
            </a:r>
            <a:r>
              <a:rPr dirty="0"/>
              <a:t> 5분, </a:t>
            </a:r>
            <a:r>
              <a:rPr dirty="0" err="1"/>
              <a:t>질의응답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3분.</a:t>
            </a:r>
            <a:r>
              <a:rPr lang="ko-KR" altLang="en-US" dirty="0"/>
              <a:t> </a:t>
            </a:r>
            <a:r>
              <a:rPr lang="ko-KR" altLang="en-US"/>
              <a:t>실제 질의응답 방법 등은 </a:t>
            </a:r>
            <a:r>
              <a:rPr lang="ko-KR" altLang="en-US" dirty="0"/>
              <a:t>교수자의 진행 지시에 따릅니다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ED1508-83B2-4E47-B8F4-3B2AAB21558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창의프로젝트  서비스 제안서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87D4C9-639D-46F7-B0B6-362E62A23010}"/>
              </a:ext>
            </a:extLst>
          </p:cNvPr>
          <p:cNvSpPr>
            <a:spLocks noGrp="1"/>
          </p:cNvSpPr>
          <p:nvPr/>
        </p:nvSpPr>
        <p:spPr>
          <a:xfrm>
            <a:off x="8096250" y="285750"/>
            <a:ext cx="6419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Trace (자국)   /   창의프로젝트1 · 2인 · 김용현 · [팀원 이름]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59A03D-20D6-414C-994E-7CC5BDD9DB85}"/>
              </a:ext>
            </a:extLst>
          </p:cNvPr>
          <p:cNvSpPr>
            <a:spLocks noGrp="1"/>
          </p:cNvSpPr>
          <p:nvPr/>
        </p:nvSpPr>
        <p:spPr>
          <a:xfrm>
            <a:off x="723900" y="809625"/>
            <a:ext cx="13792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 dirty="0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사용자 </a:t>
            </a:r>
            <a:r>
              <a:rPr sz="3600" b="1" dirty="0" err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조사와</a:t>
            </a:r>
            <a:r>
              <a:rPr sz="3600" b="1" dirty="0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핵심</a:t>
            </a:r>
            <a:r>
              <a:rPr sz="3600" b="1" dirty="0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3600" b="1" dirty="0" err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문제</a:t>
            </a:r>
            <a:r>
              <a:rPr lang="en-US" sz="3600" b="1" dirty="0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 [</a:t>
            </a:r>
            <a:r>
              <a:rPr lang="en-US" sz="3600" b="1" dirty="0">
                <a:solidFill>
                  <a:schemeClr val="accent6"/>
                </a:solidFill>
                <a:latin typeface="NanumGothic"/>
                <a:ea typeface="NanumGothic"/>
                <a:cs typeface="NanumGothic"/>
              </a:rPr>
              <a:t>Real</a:t>
            </a:r>
            <a:r>
              <a:rPr lang="ko-KR" altLang="en-US" sz="3600" b="1" dirty="0">
                <a:solidFill>
                  <a:schemeClr val="accent6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en-US" altLang="ko-KR" sz="3600" b="1" dirty="0">
                <a:solidFill>
                  <a:schemeClr val="accent6"/>
                </a:solidFill>
                <a:latin typeface="NanumGothic"/>
                <a:ea typeface="NanumGothic"/>
                <a:cs typeface="NanumGothic"/>
              </a:rPr>
              <a:t>Problem</a:t>
            </a:r>
            <a:r>
              <a:rPr lang="en-US" altLang="ko-KR" sz="3600" b="1" dirty="0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]</a:t>
            </a:r>
            <a:endParaRPr sz="3600" b="1" dirty="0">
              <a:solidFill>
                <a:srgbClr val="182E43"/>
              </a:solidFill>
              <a:latin typeface="NanumGothic"/>
              <a:ea typeface="NanumGothic"/>
              <a:cs typeface="Nanum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3CB034-4686-4F82-B2BD-31806CF6F124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3792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공감·문제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정의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: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실제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사용자의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행동과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발언에서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문제의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근거를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87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찾습니다</a:t>
            </a:r>
            <a:r>
              <a:rPr sz="187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D19C99-07CE-4F75-8BAE-E01B2EC81EBC}"/>
              </a:ext>
            </a:extLst>
          </p:cNvPr>
          <p:cNvSpPr>
            <a:spLocks noGrp="1"/>
          </p:cNvSpPr>
          <p:nvPr/>
        </p:nvSpPr>
        <p:spPr>
          <a:xfrm>
            <a:off x="723900" y="80105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발표 5분 · 질의응답 최대 3분 / [ ]를 실제 내용으로 교체하세요. 상세 작성법은 발표자 노트를 확인하세요.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C4850E-83CC-4C34-A1CB-54BCE2B5D7C5}"/>
              </a:ext>
            </a:extLst>
          </p:cNvPr>
          <p:cNvSpPr>
            <a:spLocks noGrp="1"/>
          </p:cNvSpPr>
          <p:nvPr/>
        </p:nvSpPr>
        <p:spPr>
          <a:xfrm>
            <a:off x="12477750" y="80105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01 /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F852DE-751D-49E2-8339-304654E20797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대상과 조사 방법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B60EDC-D895-426B-A6F1-8471AF9BAD80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13792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100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과제·작품을 만드는 대학생이 자료를 읽고 AI에 물으며 결과물을 만들 때 겪는 문제를 조사했습니다.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4EC9FE-A7C6-4E1F-99B2-EF1BD2E06488}"/>
              </a:ext>
            </a:extLst>
          </p:cNvPr>
          <p:cNvSpPr>
            <a:spLocks noGrp="1"/>
          </p:cNvSpPr>
          <p:nvPr/>
        </p:nvSpPr>
        <p:spPr>
          <a:xfrm>
            <a:off x="723900" y="3076575"/>
            <a:ext cx="1379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방법  교수 인터뷰 2회 · 문헌 조사 · 자체 로그 측정        대상  교육 담당 교수 1인 / [학생 8~10명 — 미실시]        기간  2026-09-19 ~ 09-23</a:t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ko-KR" altLang="en-US"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en-US" altLang="ko-KR"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75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723900" y="3676650"/>
          <a:ext cx="13792200" cy="1981200"/>
        </p:xfrm>
        <a:graphic>
          <a:graphicData uri="http://schemas.openxmlformats.org/drawingml/2006/table">
            <a:tbl>
              <a:tblPr/>
              <a:tblGrid>
                <a:gridCol w="704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관찰·발언·자료에서 확인한 사실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팀의 해석: 반복되는 어려움과 원인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MIT Media Lab(2025) 학생 54명 실험 — LLM 을 쓴 집단은 78% 가 방금 쓴 자기 글을 한 문장도 인용하지 못했다 (동료심사 전)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결과물은 남지만 과정이 본인에게도 남지 않는다. 'AI 를 썼다' 가 아니라 '쓰고 나서 뭘 했는지 모른다' 가 문제다. (확인)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교수 인터뷰(09-19 · 09-23) “교육에 매우 효과적일 것 같다” “관심이 답 잘하는 학생에서 질문 잘하는 학생으로 옮겨간다”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현장은 결과물이 아니라 과정과 질문을 보고 싶어 하는데 볼 방법이 없다. (확인 — 인터뷰 2회 / 학생 일반화는 [조사 후])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75DB1D-069B-4A04-AD7C-9B19C4B84F85}"/>
              </a:ext>
            </a:extLst>
          </p:cNvPr>
          <p:cNvSpPr>
            <a:spLocks noGrp="1"/>
          </p:cNvSpPr>
          <p:nvPr/>
        </p:nvSpPr>
        <p:spPr>
          <a:xfrm>
            <a:off x="723900" y="594360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핵심 문제 정의 · 한 문장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5A316A-8B43-4953-B731-35A5002C7865}"/>
              </a:ext>
            </a:extLst>
          </p:cNvPr>
          <p:cNvSpPr>
            <a:spLocks noGrp="1"/>
          </p:cNvSpPr>
          <p:nvPr/>
        </p:nvSpPr>
        <p:spPr>
          <a:xfrm>
            <a:off x="723900" y="6410325"/>
            <a:ext cx="137922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과제·작품을 만드는 학생은 자료와 AI 를 오가며 작업하는 상황에서 그 과정이 어디에도 남지 않기 때문에, 자신이 무엇을 배웠는지 돌아볼 수 없고 필요할 때 보여줄 수도 없다.</a:t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en-US"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40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292245-9DF3-49FF-81C1-9DDDB9AC3970}"/>
              </a:ext>
            </a:extLst>
          </p:cNvPr>
          <p:cNvSpPr>
            <a:spLocks noGrp="1"/>
          </p:cNvSpPr>
          <p:nvPr/>
        </p:nvSpPr>
        <p:spPr>
          <a:xfrm>
            <a:off x="723900" y="7524750"/>
            <a:ext cx="13792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근거·출처   MIT Media Lab(2025) arXiv:2506.08872 · 교수 인터뷰 09-19/09-23 · Liang 외(2023) Patterns · Vanderbilt(2023.08)</a:t>
            </a:r>
          </a:p>
        </p:txBody>
      </p:sp>
    </p:spTree>
    <p:extLst>
      <p:ext uri="{BB962C8B-B14F-4D97-AF65-F5344CB8AC3E}">
        <p14:creationId xmlns:p14="http://schemas.microsoft.com/office/powerpoint/2010/main" val="139838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153AC4-6869-4736-B180-5AA36B39E269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창의프로젝트  서비스 제안서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0E2DAB-A6DF-4CA6-8747-7EDD49F683E5}"/>
              </a:ext>
            </a:extLst>
          </p:cNvPr>
          <p:cNvSpPr>
            <a:spLocks noGrp="1"/>
          </p:cNvSpPr>
          <p:nvPr/>
        </p:nvSpPr>
        <p:spPr>
          <a:xfrm>
            <a:off x="8096250" y="285750"/>
            <a:ext cx="6419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Trace (자국)   /   창의프로젝트1 · 2인 · 김용현 · [팀원 이름]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0BFD6A-83FB-494D-B0FF-6273F973BA96}"/>
              </a:ext>
            </a:extLst>
          </p:cNvPr>
          <p:cNvSpPr>
            <a:spLocks noGrp="1"/>
          </p:cNvSpPr>
          <p:nvPr/>
        </p:nvSpPr>
        <p:spPr>
          <a:xfrm>
            <a:off x="723900" y="809625"/>
            <a:ext cx="13792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UX 인사이트와 해결 방향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A8813B-98A6-4DA5-ABF3-D0167EC67259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3792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해석·아이디어 도출: 조사에서 발견한 필요를 서비스의 개선 방향으로 연결합니다.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5140FE-8579-44BB-A885-290E81E44DA4}"/>
              </a:ext>
            </a:extLst>
          </p:cNvPr>
          <p:cNvSpPr>
            <a:spLocks noGrp="1"/>
          </p:cNvSpPr>
          <p:nvPr/>
        </p:nvSpPr>
        <p:spPr>
          <a:xfrm>
            <a:off x="723900" y="80105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[ ] 내용을 팀의 조사·계획으로 교체하세요. 상세 작성법은 발표자 노트를 확인하세요.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C7FF99-E149-46E1-A170-EA931D0CB455}"/>
              </a:ext>
            </a:extLst>
          </p:cNvPr>
          <p:cNvSpPr>
            <a:spLocks noGrp="1"/>
          </p:cNvSpPr>
          <p:nvPr/>
        </p:nvSpPr>
        <p:spPr>
          <a:xfrm>
            <a:off x="12477750" y="80105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02 /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7EA988-C210-4DE2-AA2F-5CF383111826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UX 인사이트 · 한 문장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414C74-FADD-46AF-9643-1FD6B5E1F3FA}"/>
              </a:ext>
            </a:extLst>
          </p:cNvPr>
          <p:cNvSpPr>
            <a:spLocks noGrp="1"/>
          </p:cNvSpPr>
          <p:nvPr/>
        </p:nvSpPr>
        <p:spPr>
          <a:xfrm>
            <a:off x="723900" y="2581275"/>
            <a:ext cx="137922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학생에게는 결과물만 남고 과정이 사라지기 때문에, AI 에 묻고 난 뒤 자신이 무엇을 했는지 스스로 되돌아볼 수 있는 기록이 필요하다.</a:t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en-US"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550" b="1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CDB739-3176-4768-BD7D-99165D1CC09D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유사사례 비교와 차별점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723900" y="4162425"/>
          <a:ext cx="13792200" cy="17145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사례·서비스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해결 방식과 남은 한계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우리 서비스의 개선 방향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Grammarly Authorship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글 쓰는 과정을 보여주지만 그 앱 안에서만 본다. 자료 → AI → 작업으로 이어지는 앱 사이의 전환은 보지 못한다.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OS 층에서 기록해 앱을 가리지 않는다. 학생에게 도구를 바꾸라고 요구하지 않는다.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Turnitin AI 탐지 · Clarity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결과물만 보고 AI 여부를 판정한다. 오탐으로 Vanderbilt 등 여러 대학이 사용을 중단했다(2023.08).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판정하지 않는다. 사실만 기록하고 해석은 학생과 교수가 한다. 기관이 학생을 보는 도구가 아니라 학생이 자기를 보는 도구다.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1310DC-FDE5-4B0E-A2B6-8DAD1D36F736}"/>
              </a:ext>
            </a:extLst>
          </p:cNvPr>
          <p:cNvSpPr>
            <a:spLocks noGrp="1"/>
          </p:cNvSpPr>
          <p:nvPr/>
        </p:nvSpPr>
        <p:spPr>
          <a:xfrm>
            <a:off x="723900" y="6181725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핵심 Research Question과 검증 방법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85581F-D2B2-405F-B920-A18D58D5D941}"/>
              </a:ext>
            </a:extLst>
          </p:cNvPr>
          <p:cNvSpPr>
            <a:spLocks noGrp="1"/>
          </p:cNvSpPr>
          <p:nvPr/>
        </p:nvSpPr>
        <p:spPr>
          <a:xfrm>
            <a:off x="723900" y="6619875"/>
            <a:ext cx="13792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과정 기록을 학생 본인에게 보여주는 방식은 결과물만 보는 방식보다 학생이 자신의 AI 사용을 되돌아보는 데 도움이 되는가?</a:t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ko-KR" altLang="en-US" sz="210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ko-KR" altLang="en-US"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lang="ko-KR" altLang="en-US" sz="210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21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E2F57B-CEAD-4FFD-A567-AC248860873C}"/>
              </a:ext>
            </a:extLst>
          </p:cNvPr>
          <p:cNvSpPr>
            <a:spLocks noGrp="1"/>
          </p:cNvSpPr>
          <p:nvPr/>
        </p:nvSpPr>
        <p:spPr>
          <a:xfrm>
            <a:off x="723900" y="7105650"/>
            <a:ext cx="1379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비교 과업  같은 과제 수행 후 회고 (A 기록 없이 / B Trace 리포트를 보고)        측정 지표  자기 질문·수정 부분 회상 정확도, 리포트에서 처음 알게 된 항목 수        평가 대상·방법  수강생 10명 · 사전·사후 비교 [10~13주 예정 · 미실시]</a:t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 err="1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  <a:r>
              <a:rPr sz="1800" b="0" dirty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/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9F5571-4121-4385-99EA-A286A5B0AE25}"/>
              </a:ext>
            </a:extLst>
          </p:cNvPr>
          <p:cNvSpPr>
            <a:spLocks noGrp="1"/>
          </p:cNvSpPr>
          <p:nvPr/>
        </p:nvSpPr>
        <p:spPr>
          <a:xfrm>
            <a:off x="723900" y="7553325"/>
            <a:ext cx="1379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사례 출처  Grammarly Authorship · Turnitin Clarity [확인 날짜 기입]        인사이트의 근거  1장 근거 1·2</a:t>
            </a:r>
          </a:p>
        </p:txBody>
      </p:sp>
    </p:spTree>
    <p:extLst>
      <p:ext uri="{BB962C8B-B14F-4D97-AF65-F5344CB8AC3E}">
        <p14:creationId xmlns:p14="http://schemas.microsoft.com/office/powerpoint/2010/main" val="2024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A38F3D-C9BB-4D95-90AE-9864F768C6B3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창의프로젝트  서비스 제안서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87A365-45CE-421D-9BB3-42E6EA178A6F}"/>
              </a:ext>
            </a:extLst>
          </p:cNvPr>
          <p:cNvSpPr>
            <a:spLocks noGrp="1"/>
          </p:cNvSpPr>
          <p:nvPr/>
        </p:nvSpPr>
        <p:spPr>
          <a:xfrm>
            <a:off x="8096250" y="285750"/>
            <a:ext cx="6419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Trace (자국)   /   창의프로젝트1 · 2인 · 김용현 · [팀원 이름]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9373B5-0D9D-46F7-B2E0-68DE21352177}"/>
              </a:ext>
            </a:extLst>
          </p:cNvPr>
          <p:cNvSpPr>
            <a:spLocks noGrp="1"/>
          </p:cNvSpPr>
          <p:nvPr/>
        </p:nvSpPr>
        <p:spPr>
          <a:xfrm>
            <a:off x="723900" y="809625"/>
            <a:ext cx="13792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서비스 개념과 핵심 기능 범위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C4A063-CA19-420B-8B62-2B643B26B2CE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3792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범위 결정: 핵심 문제를 해결하는 데 필요한 기능과 이번 학기의 구현 한계를 정합니다.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4AFF85-46B1-4A2C-A4FD-C88AF9DFFAB8}"/>
              </a:ext>
            </a:extLst>
          </p:cNvPr>
          <p:cNvSpPr>
            <a:spLocks noGrp="1"/>
          </p:cNvSpPr>
          <p:nvPr/>
        </p:nvSpPr>
        <p:spPr>
          <a:xfrm>
            <a:off x="723900" y="80105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[ ] 내용을 팀의 조사·계획으로 교체하세요. 상세 작성법은 발표자 노트를 확인하세요.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792137-55E2-449B-82CF-43D84D85C98F}"/>
              </a:ext>
            </a:extLst>
          </p:cNvPr>
          <p:cNvSpPr>
            <a:spLocks noGrp="1"/>
          </p:cNvSpPr>
          <p:nvPr/>
        </p:nvSpPr>
        <p:spPr>
          <a:xfrm>
            <a:off x="12477750" y="80105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03 /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889947-6FF6-4874-8601-C1184711CF0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서비스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9B8A4B-7046-4507-BEF9-E0FCAC6FE18B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13792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175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Trace 는 과제·작품을 만드는 학생이 자신의 학습·작업 과정을 되돌아보는 일을 자동 기록과 리포트로 수행하도록 돕는 PC 프로그램이다.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B7C8D6-9FAD-40A2-8546-314DC6152CC7}"/>
              </a:ext>
            </a:extLst>
          </p:cNvPr>
          <p:cNvSpPr>
            <a:spLocks noGrp="1"/>
          </p:cNvSpPr>
          <p:nvPr/>
        </p:nvSpPr>
        <p:spPr>
          <a:xfrm>
            <a:off x="723900" y="3419475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대표 사용 시나리오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F1E2DA-CD18-4E98-B598-A1BE655C6476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13792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2025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01  켜두고 평소 도구로 작업한다 (Trace 안에서 작업하지 않는다)        02  자료 → AI → 작업 전환과 입력·복사·붙여넣기가 자동으로 기록된다        03  리포트로 “물어본 뒤 무엇을 했는지” 확인하고, 필요하면 봉인해 제출한다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723900" y="4552950"/>
          <a:ext cx="13792200" cy="230505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핵심 기능 2~3개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대응하는 문제·인사이트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구현 완료 기준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자동 기록 — 활성 창 · 클립보드 해시 · 입력 횟수 · 파일 저장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과정이 어디에도 남지 않는다 (1장 근거 1)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20분 작업 후 시간 막대가 그려진다 — 맥·윈도우 확인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Learn 리포트 — 물어본 곳과 그 뒤에 한 일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답이 아니라 질문이 학습의 마디다 (1장 근거 2)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“물어본 곳 n · 자료로 돌아간 n · 붙여넣고 끝난 n” 이 나온다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Proof 해시 체인 봉인 · 증명서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기록을 믿을 수 있어야 회고도 제출도 성립한다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이벤트 1건만 고쳐도 검증 실패로 표시된다 — 확인됨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F98C4-8313-4E3B-87DF-19AEF681C1E5}"/>
              </a:ext>
            </a:extLst>
          </p:cNvPr>
          <p:cNvSpPr>
            <a:spLocks noGrp="1"/>
          </p:cNvSpPr>
          <p:nvPr/>
        </p:nvSpPr>
        <p:spPr>
          <a:xfrm>
            <a:off x="723900" y="7096125"/>
            <a:ext cx="13792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추가 기능   브라우저 확장 · 알약 창 · 외부 시각 앵커 · 협업 참여 기록(작품 단위)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15C798-3347-47E8-9048-7F9FA7B525DD}"/>
              </a:ext>
            </a:extLst>
          </p:cNvPr>
          <p:cNvSpPr>
            <a:spLocks noGrp="1"/>
          </p:cNvSpPr>
          <p:nvPr/>
        </p:nvSpPr>
        <p:spPr>
          <a:xfrm>
            <a:off x="723900" y="7505700"/>
            <a:ext cx="13792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제외 범위   AI 판정·점수 · 화면 캡처 · 클립보드 원문·키 내용 · 학생 간 비교 · 앱별 플러그인</a:t>
            </a:r>
          </a:p>
        </p:txBody>
      </p:sp>
    </p:spTree>
    <p:extLst>
      <p:ext uri="{BB962C8B-B14F-4D97-AF65-F5344CB8AC3E}">
        <p14:creationId xmlns:p14="http://schemas.microsoft.com/office/powerpoint/2010/main" val="110706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C8B198-6081-4A79-9B02-A0A76D077E45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창의프로젝트  서비스 제안서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19AB6B-54EC-4901-A294-D9F6D962487A}"/>
              </a:ext>
            </a:extLst>
          </p:cNvPr>
          <p:cNvSpPr>
            <a:spLocks noGrp="1"/>
          </p:cNvSpPr>
          <p:nvPr/>
        </p:nvSpPr>
        <p:spPr>
          <a:xfrm>
            <a:off x="8096250" y="285750"/>
            <a:ext cx="6419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Trace (자국)   /   창의프로젝트1 · 2인 · 김용현 · [팀원 이름]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B8356C-EDA4-4B0C-A3C4-7EB5B8BA0B7B}"/>
              </a:ext>
            </a:extLst>
          </p:cNvPr>
          <p:cNvSpPr>
            <a:spLocks noGrp="1"/>
          </p:cNvSpPr>
          <p:nvPr/>
        </p:nvSpPr>
        <p:spPr>
          <a:xfrm>
            <a:off x="723900" y="809625"/>
            <a:ext cx="13792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서비스 구조와 구현 가능성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21174B-1A5B-4DD2-BCB0-9879F19C301F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3792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초기 검증: 핵심 기능의 작동 구조와 가장 불확실한 기술의 테스트 결과를 제시합니다.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7AD963-54E3-45EE-8E34-7A7B8754AD8A}"/>
              </a:ext>
            </a:extLst>
          </p:cNvPr>
          <p:cNvSpPr>
            <a:spLocks noGrp="1"/>
          </p:cNvSpPr>
          <p:nvPr/>
        </p:nvSpPr>
        <p:spPr>
          <a:xfrm>
            <a:off x="723900" y="80105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[ ] 내용을 팀의 조사·계획으로 교체하세요. 상세 작성법은 발표자 노트를 확인하세요.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40FF2A-7174-49B9-A870-D671161A3547}"/>
              </a:ext>
            </a:extLst>
          </p:cNvPr>
          <p:cNvSpPr>
            <a:spLocks noGrp="1"/>
          </p:cNvSpPr>
          <p:nvPr/>
        </p:nvSpPr>
        <p:spPr>
          <a:xfrm>
            <a:off x="12477750" y="80105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04 /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3EA2FE-F46C-4F91-B323-D02F79ED4BD2}"/>
              </a:ext>
            </a:extLst>
          </p:cNvPr>
          <p:cNvSpPr>
            <a:spLocks noGrp="1"/>
          </p:cNvSpPr>
          <p:nvPr/>
        </p:nvSpPr>
        <p:spPr>
          <a:xfrm>
            <a:off x="723900" y="2105025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시스템·서비스 아키텍처 · 팀의 구조와 데이터로 수정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417B09-315C-437B-B86C-50093158979D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2286000" cy="1066800"/>
          </a:xfrm>
          <a:prstGeom prst="rect">
            <a:avLst/>
          </a:prstGeom>
          <a:solidFill>
            <a:srgbClr val="F1F6F7"/>
          </a:solidFill>
          <a:ln w="14288">
            <a:solidFill>
              <a:srgbClr val="007E87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사용자</a:t>
            </a:r>
          </a:p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학생 · 평소 도구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29F23A-A057-42B4-8A8F-4C14AFCDC641}"/>
              </a:ext>
            </a:extLst>
          </p:cNvPr>
          <p:cNvSpPr>
            <a:spLocks noGrp="1"/>
          </p:cNvSpPr>
          <p:nvPr/>
        </p:nvSpPr>
        <p:spPr>
          <a:xfrm>
            <a:off x="3867150" y="2914650"/>
            <a:ext cx="2857500" cy="1066800"/>
          </a:xfrm>
          <a:prstGeom prst="rect">
            <a:avLst/>
          </a:prstGeom>
          <a:solidFill>
            <a:srgbClr val="F1F6F7"/>
          </a:solidFill>
          <a:ln w="14288">
            <a:solidFill>
              <a:srgbClr val="007E87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화면 · 프론트엔드</a:t>
            </a:r>
          </a:p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React (PC 앱 창)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DD8EA3-A70E-4DB0-9E3A-0C5D4E2E0AFE}"/>
              </a:ext>
            </a:extLst>
          </p:cNvPr>
          <p:cNvSpPr>
            <a:spLocks noGrp="1"/>
          </p:cNvSpPr>
          <p:nvPr/>
        </p:nvSpPr>
        <p:spPr>
          <a:xfrm>
            <a:off x="7581900" y="2914650"/>
            <a:ext cx="3048000" cy="1066800"/>
          </a:xfrm>
          <a:prstGeom prst="rect">
            <a:avLst/>
          </a:prstGeom>
          <a:solidFill>
            <a:srgbClr val="F1F6F7"/>
          </a:solidFill>
          <a:ln w="14288">
            <a:solidFill>
              <a:srgbClr val="007E87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수집기 · 서버</a:t>
            </a:r>
          </a:p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Python · Flask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671CEC-17B4-4EE1-985E-B782CF3E5D3F}"/>
              </a:ext>
            </a:extLst>
          </p:cNvPr>
          <p:cNvSpPr>
            <a:spLocks noGrp="1"/>
          </p:cNvSpPr>
          <p:nvPr/>
        </p:nvSpPr>
        <p:spPr>
          <a:xfrm>
            <a:off x="11772900" y="2590800"/>
            <a:ext cx="2743200" cy="904875"/>
          </a:xfrm>
          <a:prstGeom prst="rect">
            <a:avLst/>
          </a:prstGeom>
          <a:solidFill>
            <a:srgbClr val="F1F6F7"/>
          </a:solidFill>
          <a:ln w="14288">
            <a:solidFill>
              <a:srgbClr val="007E87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외부 API · AI</a:t>
            </a:r>
          </a:p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OpenAI GPT-5.6 Luna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0F7BC8-EA62-49A0-9A98-B8A2FA46469B}"/>
              </a:ext>
            </a:extLst>
          </p:cNvPr>
          <p:cNvSpPr>
            <a:spLocks noGrp="1"/>
          </p:cNvSpPr>
          <p:nvPr/>
        </p:nvSpPr>
        <p:spPr>
          <a:xfrm>
            <a:off x="11772900" y="3857625"/>
            <a:ext cx="2743200" cy="904875"/>
          </a:xfrm>
          <a:prstGeom prst="rect">
            <a:avLst/>
          </a:prstGeom>
          <a:solidFill>
            <a:srgbClr val="F1F6F7"/>
          </a:solidFill>
          <a:ln w="14288">
            <a:solidFill>
              <a:srgbClr val="007E87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데이터 저장소</a:t>
            </a:r>
          </a:p>
          <a:p>
            <a:pPr algn="ctr">
              <a:def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1875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SQLite → PostgreSQL</a:t>
            </a:r>
          </a:p>
        </p:txBody>
      </p:sp>
      <p:cxnSp>
        <p:nvCxnSpPr>
          <p:cNvPr id="37" name="직선 화살표 연결선 36"/>
          <p:cNvCxnSpPr>
            <a:stCxn id="8" idx="3"/>
            <a:endCxn id="9" idx="1"/>
          </p:cNvCxnSpPr>
          <p:nvPr/>
        </p:nvCxnSpPr>
        <p:spPr>
          <a:xfrm>
            <a:off x="3009900" y="3448050"/>
            <a:ext cx="857250" cy="0"/>
          </a:xfrm>
          <a:prstGeom prst="straightConnector1">
            <a:avLst/>
          </a:prstGeom>
          <a:ln w="19050">
            <a:solidFill>
              <a:srgbClr val="007E87"/>
            </a:solidFill>
            <a:tailEnd type="arrow" w="med" len="med"/>
          </a:ln>
        </p:spPr>
      </p:cxnSp>
      <p:cxnSp>
        <p:nvCxnSpPr>
          <p:cNvPr id="38" name="직선 화살표 연결선 37"/>
          <p:cNvCxnSpPr>
            <a:stCxn id="9" idx="3"/>
            <a:endCxn id="10" idx="1"/>
          </p:cNvCxnSpPr>
          <p:nvPr/>
        </p:nvCxnSpPr>
        <p:spPr>
          <a:xfrm>
            <a:off x="6724650" y="3448050"/>
            <a:ext cx="857250" cy="0"/>
          </a:xfrm>
          <a:prstGeom prst="straightConnector1">
            <a:avLst/>
          </a:prstGeom>
          <a:ln w="19050">
            <a:solidFill>
              <a:srgbClr val="007E87"/>
            </a:solidFill>
            <a:tailEnd type="arrow" w="med" len="med"/>
          </a:ln>
        </p:spPr>
      </p:cxnSp>
      <p:cxnSp>
        <p:nvCxnSpPr>
          <p:cNvPr id="39" name="연결선: 꺾임 38"/>
          <p:cNvCxnSpPr>
            <a:stCxn id="10" idx="3"/>
            <a:endCxn id="11" idx="1"/>
          </p:cNvCxnSpPr>
          <p:nvPr/>
        </p:nvCxnSpPr>
        <p:spPr>
          <a:xfrm flipV="1">
            <a:off x="10629900" y="3043238"/>
            <a:ext cx="1143000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007E87"/>
            </a:solidFill>
            <a:tailEnd type="arrow" w="med" len="med"/>
          </a:ln>
        </p:spPr>
      </p:cxnSp>
      <p:cxnSp>
        <p:nvCxnSpPr>
          <p:cNvPr id="40" name="연결선: 꺾임 39"/>
          <p:cNvCxnSpPr>
            <a:stCxn id="10" idx="3"/>
            <a:endCxn id="12" idx="1"/>
          </p:cNvCxnSpPr>
          <p:nvPr/>
        </p:nvCxnSpPr>
        <p:spPr>
          <a:xfrm>
            <a:off x="10629900" y="3448050"/>
            <a:ext cx="1143000" cy="862013"/>
          </a:xfrm>
          <a:prstGeom prst="bentConnector3">
            <a:avLst>
              <a:gd name="adj1" fmla="val 50000"/>
            </a:avLst>
          </a:prstGeom>
          <a:ln w="19050">
            <a:solidFill>
              <a:srgbClr val="007E87"/>
            </a:solidFill>
            <a:tailEnd type="arrow" w="med" len="med"/>
          </a:ln>
        </p:spPr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E658F9-F626-4ADA-B575-63911EB60826}"/>
              </a:ext>
            </a:extLst>
          </p:cNvPr>
          <p:cNvSpPr>
            <a:spLocks noGrp="1"/>
          </p:cNvSpPr>
          <p:nvPr/>
        </p:nvSpPr>
        <p:spPr>
          <a:xfrm>
            <a:off x="3038475" y="2647950"/>
            <a:ext cx="800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작업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CCF2AF-41F7-426F-B025-3EC80AD48E96}"/>
              </a:ext>
            </a:extLst>
          </p:cNvPr>
          <p:cNvSpPr>
            <a:spLocks noGrp="1"/>
          </p:cNvSpPr>
          <p:nvPr/>
        </p:nvSpPr>
        <p:spPr>
          <a:xfrm>
            <a:off x="6753225" y="2647950"/>
            <a:ext cx="8001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이벤트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DFBFF4-5056-4E76-9736-A8F3BA296AEA}"/>
              </a:ext>
            </a:extLst>
          </p:cNvPr>
          <p:cNvSpPr>
            <a:spLocks noGrp="1"/>
          </p:cNvSpPr>
          <p:nvPr/>
        </p:nvSpPr>
        <p:spPr>
          <a:xfrm>
            <a:off x="10639425" y="2428875"/>
            <a:ext cx="11144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0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세션 요약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AE83BC-16E2-448F-9197-73087AF73051}"/>
              </a:ext>
            </a:extLst>
          </p:cNvPr>
          <p:cNvSpPr>
            <a:spLocks noGrp="1"/>
          </p:cNvSpPr>
          <p:nvPr/>
        </p:nvSpPr>
        <p:spPr>
          <a:xfrm>
            <a:off x="10639425" y="4448175"/>
            <a:ext cx="11144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0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275" b="0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이벤트·해시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10CB7B-2626-4FC7-BDFE-5258D1805726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9715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결과 반환   서버가 만든 세션 데이터(JSON) → 화면이 시간 막대·리포트로 그림. 학생 이름·계정은 AI 에 안 보냄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501C44-34DC-453D-8FF8-A4C758E11A7E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핵심 기술 테스트 · 1~2개</a:t>
            </a:r>
          </a:p>
        </p:txBody>
      </p:sp>
      <p:graphicFrame>
        <p:nvGraphicFramePr>
          <p:cNvPr id="47" name="표 46"/>
          <p:cNvGraphicFramePr/>
          <p:nvPr>
            <p:extLst>
              <p:ext uri="{D42A27DB-BD31-4B8C-83A1-F6EECF244321}">
                <p14:modId xmlns:p14="http://schemas.microsoft.com/office/powerpoint/2010/main" val="3042242185"/>
              </p:ext>
            </p:extLst>
          </p:nvPr>
        </p:nvGraphicFramePr>
        <p:xfrm>
          <a:off x="723900" y="5514975"/>
          <a:ext cx="13792200" cy="17716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기술·검증 항목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실험 방법·성공 기준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실제 결과·증거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한계·대안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해시 체인이 사후 변조를 잡아내는가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기록 390건에 한 글자씩 10회 변조 후 검증. 위치까지 찾으면 성공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10/10 위치까지 검출 · 평균 0.2ms. 서버 재계산도 실패 표시 · 봉인 거절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끄고 한 작업은 못 잡음 → “기록 없는 구간”으로 표시. 보완: 자동 실행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내용을 저장하지 않고 “옮겨 적었다”를 알 수 있는가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AI 앱에서 복사 → 다른 앱에 붙여넣기. 원문 없이 길이와 SHA-256 만 비교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해시 일치 확인(81자·255자). 맥·윈도우 동작. 서버 검사 8/8 · 인증 14/14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오른쪽 클릭 붙여넣기는 못 잡음. 맥의 브라우저 탭 구분은 확장 필요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1977F3DE-9C60-4819-B10C-78BB91C312D2}"/>
              </a:ext>
            </a:extLst>
          </p:cNvPr>
          <p:cNvSpPr>
            <a:spLocks noGrp="1"/>
          </p:cNvSpPr>
          <p:nvPr/>
        </p:nvSpPr>
        <p:spPr>
          <a:xfrm>
            <a:off x="723900" y="7515225"/>
            <a:ext cx="13792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미실시 항목   학생 인터뷰 8~10명 · 파일럿 10명 [10~13주] · 외부 시각 앵커 [예정]        기능 범위 조정   유지 — VS Code 확장은 파일 저장 비교로 대체</a:t>
            </a:r>
          </a:p>
        </p:txBody>
      </p:sp>
    </p:spTree>
    <p:extLst>
      <p:ext uri="{BB962C8B-B14F-4D97-AF65-F5344CB8AC3E}">
        <p14:creationId xmlns:p14="http://schemas.microsoft.com/office/powerpoint/2010/main" val="1543058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F532AA-C7ED-476D-B21C-B467C0C3E8E4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17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창의프로젝트  서비스 제안서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55BEC9-64B8-4020-9904-9C1847BFFE82}"/>
              </a:ext>
            </a:extLst>
          </p:cNvPr>
          <p:cNvSpPr>
            <a:spLocks noGrp="1"/>
          </p:cNvSpPr>
          <p:nvPr/>
        </p:nvSpPr>
        <p:spPr>
          <a:xfrm>
            <a:off x="8096250" y="285750"/>
            <a:ext cx="6419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650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Trace (자국)   /   창의프로젝트1 · 2인 · 김용현 · [팀원 이름]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C47E18-E098-4C83-9ED9-CBA26A2B2091}"/>
              </a:ext>
            </a:extLst>
          </p:cNvPr>
          <p:cNvSpPr>
            <a:spLocks noGrp="1"/>
          </p:cNvSpPr>
          <p:nvPr/>
        </p:nvSpPr>
        <p:spPr>
          <a:xfrm>
            <a:off x="723900" y="809625"/>
            <a:ext cx="13792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defRPr>
            </a:pPr>
            <a:r>
              <a:rPr sz="3600" b="1">
                <a:solidFill>
                  <a:srgbClr val="182E43"/>
                </a:solidFill>
                <a:latin typeface="NanumGothic"/>
                <a:ea typeface="NanumGothic"/>
                <a:cs typeface="NanumGothic"/>
              </a:rPr>
              <a:t>전체 일정과 팀 협업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B001C9-F3C7-4351-B062-A1AE934737B5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3792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실행 계획: 누가, 언제까지, 무엇을 완성할지 정하고 협업 규칙을 합의합니다.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FFFF03-B0F2-47E9-B785-3C0A2E5172EC}"/>
              </a:ext>
            </a:extLst>
          </p:cNvPr>
          <p:cNvSpPr>
            <a:spLocks noGrp="1"/>
          </p:cNvSpPr>
          <p:nvPr/>
        </p:nvSpPr>
        <p:spPr>
          <a:xfrm>
            <a:off x="723900" y="8010525"/>
            <a:ext cx="11525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425" b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[ ] 내용을 팀의 조사·계획으로 교체하세요. 상세 작성법은 발표자 노트를 확인하세요.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7FB56D-010F-42C5-B132-47165550D02A}"/>
              </a:ext>
            </a:extLst>
          </p:cNvPr>
          <p:cNvSpPr>
            <a:spLocks noGrp="1"/>
          </p:cNvSpPr>
          <p:nvPr/>
        </p:nvSpPr>
        <p:spPr>
          <a:xfrm>
            <a:off x="12477750" y="8010525"/>
            <a:ext cx="20383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500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05 / 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D255D2-9575-4F33-922D-7AD9684E007F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7620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주차별 일정과 산출물</a:t>
            </a:r>
          </a:p>
        </p:txBody>
      </p:sp>
      <p:graphicFrame>
        <p:nvGraphicFramePr>
          <p:cNvPr id="22" name="표 21"/>
          <p:cNvGraphicFramePr/>
          <p:nvPr>
            <p:extLst>
              <p:ext uri="{D42A27DB-BD31-4B8C-83A1-F6EECF244321}">
                <p14:modId xmlns:p14="http://schemas.microsoft.com/office/powerpoint/2010/main" val="1228055427"/>
              </p:ext>
            </p:extLst>
          </p:nvPr>
        </p:nvGraphicFramePr>
        <p:xfrm>
          <a:off x="723900" y="2609850"/>
          <a:ext cx="8143875" cy="372618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주차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주요 작업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완료 산출물·마감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6~8주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기</a:t>
                      </a:r>
                      <a:r>
                        <a:rPr lang="ko-KR" alt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획</a:t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·</a:t>
                      </a:r>
                      <a:r>
                        <a:rPr 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U</a:t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X/UI·</a:t>
                      </a:r>
                      <a:r>
                        <a:rPr lang="ko-KR" alt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구조</a:t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lang="ko-KR" alt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설계</a:t>
                      </a:r>
                      <a:r>
                        <a:rPr 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, </a:t>
                      </a:r>
                      <a:r>
                        <a:rPr lang="ko-KR" alt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핵심 기술 개발</a:t>
                      </a:r>
                      <a:endParaRPr sz="1725" b="0" dirty="0">
                        <a:solidFill>
                          <a:srgbClr val="617686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화면 22장 · 데이터/API 계약 · 수집기 · 체인 · 서버 · DB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9주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중간</a:t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점검·피드백</a:t>
                      </a:r>
                      <a:r>
                        <a:rPr lang="en-US"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(Pin-up)</a:t>
                      </a:r>
                      <a:endParaRPr sz="1725" b="0" dirty="0">
                        <a:solidFill>
                          <a:srgbClr val="617686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지표 재정의(질문 중심) · 범위 확정 · 수정안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10~13주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구현·연동·사용자</a:t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 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테스트</a:t>
                      </a:r>
                      <a:endParaRPr sz="1725" b="0" dirty="0">
                        <a:solidFill>
                          <a:srgbClr val="617686"/>
                        </a:solidFill>
                        <a:latin typeface="NanumGothic"/>
                        <a:ea typeface="NanumGothic"/>
                        <a:cs typeface="NanumGothic"/>
                      </a:endParaRP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통합 시제품 · 파일럿 10명 테스트 결과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14주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최종 발표·서비스 시연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작동 서비스 시연 · 발표 자료</a:t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15주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정리·학습 성찰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개인 성찰 보고서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BB955CA-D5DA-4CB7-A299-360C038157A7}"/>
              </a:ext>
            </a:extLst>
          </p:cNvPr>
          <p:cNvSpPr>
            <a:spLocks noGrp="1"/>
          </p:cNvSpPr>
          <p:nvPr/>
        </p:nvSpPr>
        <p:spPr>
          <a:xfrm>
            <a:off x="9305925" y="2133600"/>
            <a:ext cx="52101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역할과 책임(R&amp;R)</a:t>
            </a:r>
          </a:p>
        </p:txBody>
      </p:sp>
      <p:graphicFrame>
        <p:nvGraphicFramePr>
          <p:cNvPr id="24" name="표 23"/>
          <p:cNvGraphicFramePr/>
          <p:nvPr>
            <p:extLst>
              <p:ext uri="{D42A27DB-BD31-4B8C-83A1-F6EECF244321}">
                <p14:modId xmlns:p14="http://schemas.microsoft.com/office/powerpoint/2010/main" val="2098924080"/>
              </p:ext>
            </p:extLst>
          </p:nvPr>
        </p:nvGraphicFramePr>
        <p:xfrm>
          <a:off x="9305925" y="2609850"/>
          <a:ext cx="5210175" cy="2771291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43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팀원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책임 산출물·마감</a:t>
                      </a:r>
                    </a:p>
                  </a:txBody>
                  <a:tcPr marL="152400" marR="152400" marT="95250" marB="95250" anchor="ctr">
                    <a:solidFill>
                      <a:srgbClr val="182E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김용현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서버 · DB · 인증 · Proof 검증 · 배포 · 맥 수집기 / [마감일]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9661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[팀원 이름]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>수집기 · 브라우저 확장 · Learn 지표 · 화면 · 기획/디자인 / [마감일]</a:t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 err="1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  <a:r>
                        <a:rPr sz="1725" b="0" dirty="0">
                          <a:solidFill>
                            <a:srgbClr val="617686"/>
                          </a:solidFill>
                          <a:latin typeface="NanumGothic"/>
                          <a:ea typeface="NanumGothic"/>
                          <a:cs typeface="NanumGothic"/>
                        </a:rPr>
                        <a:t/>
                      </a:r>
                    </a:p>
                  </a:txBody>
                  <a:tcPr marL="152400" marR="152400" marT="95250" marB="95250" anchor="ctr">
                    <a:solidFill>
                      <a:srgbClr val="F1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862F64-F50B-4901-BA56-6BAD97AF856A}"/>
              </a:ext>
            </a:extLst>
          </p:cNvPr>
          <p:cNvSpPr>
            <a:spLocks noGrp="1"/>
          </p:cNvSpPr>
          <p:nvPr/>
        </p:nvSpPr>
        <p:spPr>
          <a:xfrm>
            <a:off x="9305925" y="5724525"/>
            <a:ext cx="52101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공동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작업도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lang="ko-KR" altLang="en-US" sz="1725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핵심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책임자를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정합니다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.</a:t>
            </a:r>
          </a:p>
          <a:p>
            <a:pPr algn="l">
              <a:defRPr sz="1725" b="0">
                <a:solidFill>
                  <a:srgbClr val="516274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팀원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수에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맞게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행을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 </a:t>
            </a:r>
            <a:r>
              <a:rPr sz="1725" b="0" dirty="0" err="1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조정하세요</a:t>
            </a:r>
            <a:r>
              <a:rPr sz="1725" b="0" dirty="0">
                <a:solidFill>
                  <a:srgbClr val="516274"/>
                </a:solidFill>
                <a:latin typeface="NanumGothic"/>
                <a:ea typeface="NanumGothic"/>
                <a:cs typeface="NanumGothic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D59FA6-DF90-455C-9100-9E38C6637E07}"/>
              </a:ext>
            </a:extLst>
          </p:cNvPr>
          <p:cNvSpPr>
            <a:spLocks noGrp="1"/>
          </p:cNvSpPr>
          <p:nvPr/>
        </p:nvSpPr>
        <p:spPr>
          <a:xfrm>
            <a:off x="723900" y="6543675"/>
            <a:ext cx="13335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E87"/>
                </a:solidFill>
                <a:latin typeface="NanumGothic"/>
                <a:ea typeface="NanumGothic"/>
                <a:cs typeface="NanumGothic"/>
              </a:rPr>
              <a:t>컨벤션 · 팀이 실제 적용할 규칙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E76DD8-E5DE-42ED-BC7B-D4F5AD56A61C}"/>
              </a:ext>
            </a:extLst>
          </p:cNvPr>
          <p:cNvSpPr>
            <a:spLocks noGrp="1"/>
          </p:cNvSpPr>
          <p:nvPr/>
        </p:nvSpPr>
        <p:spPr>
          <a:xfrm>
            <a:off x="723900" y="6981825"/>
            <a:ext cx="13792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파일·디자인 이름   1-기획 / 2-디자인 / 3-코드 · 목업은 번호-화면이름          코드·Git·API   브랜치 3일 이내 · PR 병합 · 해시는 chain.py 에서만 · API 변경은 문서 먼저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C14E4B-CDC4-474D-A976-EBE706C03B4C}"/>
              </a:ext>
            </a:extLst>
          </p:cNvPr>
          <p:cNvSpPr>
            <a:spLocks noGrp="1"/>
          </p:cNvSpPr>
          <p:nvPr/>
        </p:nvSpPr>
        <p:spPr>
          <a:xfrm>
            <a:off x="723900" y="7419975"/>
            <a:ext cx="13792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617686"/>
                </a:solidFill>
                <a:latin typeface="NanumGothic"/>
                <a:ea typeface="NanumGothic"/>
                <a:cs typeface="NanumGothic"/>
              </a:rPr>
              <a:t>진행 공유·검토   GitHub PR 로 매 작업 공유 · 통합 점검 3회          변경·이슈 처리   결정은 날짜와 함께 문서에 기록 · 계약 변경은 상대 합의 후</a:t>
            </a:r>
          </a:p>
        </p:txBody>
      </p:sp>
    </p:spTree>
    <p:extLst>
      <p:ext uri="{BB962C8B-B14F-4D97-AF65-F5344CB8AC3E}">
        <p14:creationId xmlns:p14="http://schemas.microsoft.com/office/powerpoint/2010/main" val="16890698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1871</Words>
  <Application>Microsoft Office PowerPoint</Application>
  <DocSecurity>0</DocSecurity>
  <PresentationFormat>사용자 지정</PresentationFormat>
  <Paragraphs>169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NanumGothic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Jae Wan Park</cp:lastModifiedBy>
  <cp:revision>19</cp:revision>
  <dcterms:created xsi:type="dcterms:W3CDTF">2026-09-21T08:36:07Z</dcterms:created>
  <dcterms:modified xsi:type="dcterms:W3CDTF">2026-09-22T21:46:55Z</dcterms:modified>
</cp:coreProperties>
</file>