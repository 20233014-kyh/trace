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5"/>
  </p:notesMasterIdLst>
  <p:sldIdLst>
    <p:sldId id="256" r:id="rId2"/>
    <p:sldId id="257" r:id="rId3"/>
    <p:sldId id="258" r:id="rId4"/>
  </p:sldIdLst>
  <p:sldSz cx="15240000" cy="85725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58" d="100"/>
          <a:sy n="58" d="100"/>
        </p:scale>
        <p:origin x="994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직사각형 12">
            <a:extLst>
              <a:ext uri="{FF2B5EF4-FFF2-40B4-BE49-F238E27FC236}">
                <a16:creationId xmlns:a16="http://schemas.microsoft.com/office/drawing/2014/main" id="{E3802860-7439-4928-B655-60200F5DD1A5}"/>
              </a:ext>
            </a:extLst>
          </p:cNvPr>
          <p:cNvSpPr>
            <a:spLocks noGrp="1"/>
          </p:cNvSpPr>
          <p:nvPr/>
        </p:nvSpPr>
        <p:spPr>
          <a:xfrm>
            <a:off x="723900" y="333375"/>
            <a:ext cx="1238250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  <a:defRPr sz="1575" b="1">
                <a:solidFill>
                  <a:srgbClr val="007E87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575" b="1" dirty="0" err="1">
                <a:solidFill>
                  <a:srgbClr val="007E87"/>
                </a:solidFill>
                <a:latin typeface="Noto Sans CJK KR"/>
                <a:ea typeface="Noto Sans CJK KR"/>
                <a:cs typeface="Noto Sans CJK KR"/>
              </a:rPr>
              <a:t>창의프로젝트   서비스 계획 수립:  김용현 · [팀원 이름]</a:t>
            </a:r>
            <a:endParaRPr sz="1575" b="1" dirty="0">
              <a:solidFill>
                <a:srgbClr val="007E87"/>
              </a:solidFill>
              <a:latin typeface="Noto Sans CJK KR"/>
              <a:ea typeface="Noto Sans CJK KR"/>
              <a:cs typeface="Noto Sans CJK KR"/>
            </a:endParaRP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5FCE1A2F-F380-4A83-A147-EFB9E2332106}"/>
              </a:ext>
            </a:extLst>
          </p:cNvPr>
          <p:cNvSpPr>
            <a:spLocks noGrp="1"/>
          </p:cNvSpPr>
          <p:nvPr/>
        </p:nvSpPr>
        <p:spPr>
          <a:xfrm>
            <a:off x="723900" y="838200"/>
            <a:ext cx="13716000" cy="666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3600" b="1">
                <a:solidFill>
                  <a:srgbClr val="182E43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3600" b="1">
                <a:solidFill>
                  <a:srgbClr val="182E43"/>
                </a:solidFill>
                <a:latin typeface="Noto Sans CJK KR"/>
                <a:ea typeface="Noto Sans CJK KR"/>
                <a:cs typeface="Noto Sans CJK KR"/>
              </a:rPr>
              <a:t>문제 발견 및 정의와 기반 문헌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568CAA27-C99A-4282-AD34-11A466D861C7}"/>
              </a:ext>
            </a:extLst>
          </p:cNvPr>
          <p:cNvSpPr>
            <a:spLocks noGrp="1"/>
          </p:cNvSpPr>
          <p:nvPr/>
        </p:nvSpPr>
        <p:spPr>
          <a:xfrm>
            <a:off x="723900" y="1581150"/>
            <a:ext cx="137160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025" b="0">
                <a:solidFill>
                  <a:srgbClr val="516274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2025" b="0">
                <a:solidFill>
                  <a:srgbClr val="516274"/>
                </a:solidFill>
                <a:latin typeface="Noto Sans CJK KR"/>
                <a:ea typeface="Noto Sans CJK KR"/>
                <a:cs typeface="Noto Sans CJK KR"/>
              </a:rPr>
              <a:t>누가 어떤 어려움을 겪으며, 어떤 근거로 이 문제를 설명할 수 있는가?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A2F28E29-E6A7-4C40-B3A7-8C9CFE9B9E21}"/>
              </a:ext>
            </a:extLst>
          </p:cNvPr>
          <p:cNvSpPr>
            <a:spLocks noGrp="1"/>
          </p:cNvSpPr>
          <p:nvPr/>
        </p:nvSpPr>
        <p:spPr>
          <a:xfrm>
            <a:off x="13335000" y="8058150"/>
            <a:ext cx="11430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defRPr sz="1500" b="0">
                <a:solidFill>
                  <a:srgbClr val="516274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500" b="0">
                <a:solidFill>
                  <a:srgbClr val="516274"/>
                </a:solidFill>
                <a:latin typeface="Noto Sans CJK KR"/>
                <a:ea typeface="Noto Sans CJK KR"/>
                <a:cs typeface="Noto Sans CJK KR"/>
              </a:rPr>
              <a:t>01 / 03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674D9461-1754-4470-BD6C-C8C7046CEA19}"/>
              </a:ext>
            </a:extLst>
          </p:cNvPr>
          <p:cNvSpPr>
            <a:spLocks noGrp="1"/>
          </p:cNvSpPr>
          <p:nvPr/>
        </p:nvSpPr>
        <p:spPr>
          <a:xfrm>
            <a:off x="723900" y="2314575"/>
            <a:ext cx="571500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325" b="1">
                <a:solidFill>
                  <a:srgbClr val="007E87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2325" b="1">
                <a:solidFill>
                  <a:srgbClr val="007E87"/>
                </a:solidFill>
                <a:latin typeface="Noto Sans CJK KR"/>
                <a:ea typeface="Noto Sans CJK KR"/>
                <a:cs typeface="Noto Sans CJK KR"/>
              </a:rPr>
              <a:t>문제 정의에 포함할 내용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8AB3D505-D464-4EB0-AB7F-6D59F3E5EEC9}"/>
              </a:ext>
            </a:extLst>
          </p:cNvPr>
          <p:cNvSpPr>
            <a:spLocks noGrp="1"/>
          </p:cNvSpPr>
          <p:nvPr/>
        </p:nvSpPr>
        <p:spPr>
          <a:xfrm>
            <a:off x="723900" y="2924175"/>
            <a:ext cx="5762625" cy="14954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600"/>
              </a:spcAft>
              <a:defRPr sz="2175" b="0">
                <a:solidFill>
                  <a:srgbClr val="182E43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450" b="0">
                <a:solidFill>
                  <a:srgbClr val="182E43"/>
                </a:solidFill>
                <a:latin typeface="Noto Sans CJK KR"/>
                <a:ea typeface="Noto Sans CJK KR"/>
                <a:cs typeface="Noto Sans CJK KR"/>
              </a:rPr>
              <a:t>대상 ·  과제 · 공모전 · 외주 결과물을 컴퓨터로 만들어 제출하는 사람</a:t>
            </a:r>
          </a:p>
          <a:p>
            <a:pPr>
              <a:spcAft>
                <a:spcPts val="600"/>
              </a:spcAft>
            </a:pPr>
            <a:r>
              <a:rPr sz="1450" b="0">
                <a:solidFill>
                  <a:srgbClr val="182E43"/>
                </a:solidFill>
                <a:latin typeface="Noto Sans CJK KR"/>
                <a:ea typeface="Noto Sans CJK KR"/>
                <a:cs typeface="Noto Sans CJK KR"/>
              </a:rPr>
              <a:t>상황 ·  제출 직후 “AI로 만든 것 아니냐”는 의심을 받는 순간</a:t>
            </a:r>
          </a:p>
          <a:p>
            <a:pPr>
              <a:spcAft>
                <a:spcPts val="600"/>
              </a:spcAft>
            </a:pPr>
            <a:r>
              <a:rPr sz="1450" b="0">
                <a:solidFill>
                  <a:srgbClr val="182E43"/>
                </a:solidFill>
                <a:latin typeface="Noto Sans CJK KR"/>
                <a:ea typeface="Noto Sans CJK KR"/>
                <a:cs typeface="Noto Sans CJK KR"/>
              </a:rPr>
              <a:t>불편 ·  결백해도 내놓을 자료가 없다. 초고와 수정 흔적은 본인 PC 에만 남는다</a:t>
            </a:r>
          </a:p>
          <a:p>
            <a:pPr>
              <a:spcAft>
                <a:spcPts val="600"/>
              </a:spcAft>
            </a:pPr>
            <a:r>
              <a:rPr sz="1450" b="0">
                <a:solidFill>
                  <a:srgbClr val="182E43"/>
                </a:solidFill>
                <a:latin typeface="Noto Sans CJK KR"/>
                <a:ea typeface="Noto Sans CJK KR"/>
                <a:cs typeface="Noto Sans CJK KR"/>
              </a:rPr>
              <a:t>대응 ·  타임랩스 · 초안 캡처를 보내지만 “그것도 만들 수 있다”로 끝난다</a:t>
            </a:r>
          </a:p>
          <a:p>
            <a:pPr>
              <a:spcAft>
                <a:spcPts val="600"/>
              </a:spcAft>
            </a:pPr>
            <a:r>
              <a:rPr sz="1450" b="0">
                <a:solidFill>
                  <a:srgbClr val="182E43"/>
                </a:solidFill>
                <a:latin typeface="Noto Sans CJK KR"/>
                <a:ea typeface="Noto Sans CJK KR"/>
                <a:cs typeface="Noto Sans CJK KR"/>
              </a:rPr>
              <a:t>영향 ·  오탐은 되돌리기 어렵다. 학점 · 수상 · 다음 의뢰가 걸려 있다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9DF9862F-CDDF-4611-9EA6-918F02B5E356}"/>
              </a:ext>
            </a:extLst>
          </p:cNvPr>
          <p:cNvSpPr>
            <a:spLocks noGrp="1"/>
          </p:cNvSpPr>
          <p:nvPr/>
        </p:nvSpPr>
        <p:spPr>
          <a:xfrm>
            <a:off x="723900" y="4695825"/>
            <a:ext cx="5810250" cy="857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defRPr sz="1875" b="0">
                <a:solidFill>
                  <a:srgbClr val="516274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250" b="0">
                <a:solidFill>
                  <a:srgbClr val="516274"/>
                </a:solidFill>
                <a:latin typeface="Noto Sans CJK KR"/>
                <a:ea typeface="Noto Sans CJK KR"/>
                <a:cs typeface="Noto Sans CJK KR"/>
              </a:rPr>
              <a:t>확인된 사실 ·  탐지기 오탐은 이미 측정됐고, 기관이 사용을 중단할 만큼 컸다</a:t>
            </a:r>
          </a:p>
          <a:p>
            <a:pPr>
              <a:spcAft>
                <a:spcPts val="400"/>
              </a:spcAft>
            </a:pPr>
            <a:r>
              <a:rPr sz="1250" b="0">
                <a:solidFill>
                  <a:srgbClr val="516274"/>
                </a:solidFill>
                <a:latin typeface="Noto Sans CJK KR"/>
                <a:ea typeface="Noto Sans CJK KR"/>
                <a:cs typeface="Noto Sans CJK KR"/>
              </a:rPr>
              <a:t>팀의 추정 ·  오탐 경험이 제출자의 행동을 바꾼다 → 인터뷰로 검증 예정</a:t>
            </a:r>
          </a:p>
          <a:p>
            <a:pPr>
              <a:spcAft>
                <a:spcPts val="400"/>
              </a:spcAft>
            </a:pPr>
            <a:r>
              <a:rPr sz="1250" b="0">
                <a:solidFill>
                  <a:srgbClr val="516274"/>
                </a:solidFill>
                <a:latin typeface="Noto Sans CJK KR"/>
                <a:ea typeface="Noto Sans CJK KR"/>
                <a:cs typeface="Noto Sans CJK KR"/>
              </a:rPr>
              <a:t>이번 범위 ·  컴퓨터에서 만든 결과물의 ‘제작 과정 기록’ 에 한정한다.</a:t>
            </a:r>
          </a:p>
          <a:p>
            <a:pPr>
              <a:spcAft>
                <a:spcPts val="400"/>
              </a:spcAft>
            </a:pPr>
            <a:r>
              <a:rPr sz="1250" b="0">
                <a:solidFill>
                  <a:srgbClr val="516274"/>
                </a:solidFill>
                <a:latin typeface="Noto Sans CJK KR"/>
                <a:ea typeface="Noto Sans CJK KR"/>
                <a:cs typeface="Noto Sans CJK KR"/>
              </a:rPr>
              <a:t>                    AI 사용 여부 판정은 범위 밖에 둔다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D6942A39-CF56-43A1-A0BF-E244AC65B919}"/>
              </a:ext>
            </a:extLst>
          </p:cNvPr>
          <p:cNvSpPr>
            <a:spLocks noGrp="1"/>
          </p:cNvSpPr>
          <p:nvPr/>
        </p:nvSpPr>
        <p:spPr>
          <a:xfrm>
            <a:off x="7048499" y="2314575"/>
            <a:ext cx="7661413" cy="3905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  <a:defRPr sz="2325" b="1">
                <a:solidFill>
                  <a:srgbClr val="007E87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2325" b="1" dirty="0" err="1">
                <a:solidFill>
                  <a:srgbClr val="007E87"/>
                </a:solidFill>
                <a:latin typeface="Noto Sans CJK KR"/>
                <a:ea typeface="Noto Sans CJK KR"/>
                <a:cs typeface="Noto Sans CJK KR"/>
              </a:rPr>
              <a:t>문제를 뒷받침하는 자료</a:t>
            </a:r>
            <a:endParaRPr sz="2325" b="1" dirty="0">
              <a:solidFill>
                <a:srgbClr val="FF0000"/>
              </a:solidFill>
              <a:latin typeface="Noto Sans CJK KR"/>
              <a:ea typeface="Noto Sans CJK KR"/>
              <a:cs typeface="Noto Sans CJK KR"/>
            </a:endParaRPr>
          </a:p>
        </p:txBody>
      </p:sp>
      <p:graphicFrame>
        <p:nvGraphicFramePr>
          <p:cNvPr id="21" name="표 20"/>
          <p:cNvGraphicFramePr/>
          <p:nvPr>
            <p:extLst>
              <p:ext uri="{D42A27DB-BD31-4B8C-83A1-F6EECF244321}">
                <p14:modId xmlns:p14="http://schemas.microsoft.com/office/powerpoint/2010/main" val="2247392611"/>
              </p:ext>
            </p:extLst>
          </p:nvPr>
        </p:nvGraphicFramePr>
        <p:xfrm>
          <a:off x="7048500" y="2914650"/>
          <a:ext cx="7429500" cy="2775586"/>
        </p:xfrm>
        <a:graphic>
          <a:graphicData uri="http://schemas.openxmlformats.org/drawingml/2006/table">
            <a:tbl>
              <a:tblPr/>
              <a:tblGrid>
                <a:gridCol w="201598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3596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7754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52463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Noto Sans CJK KR"/>
                          <a:ea typeface="Noto Sans CJK KR"/>
                          <a:cs typeface="Noto Sans CJK KR"/>
                        </a:rPr>
                        <a:t>근거</a:t>
                      </a:r>
                    </a:p>
                  </a:txBody>
                  <a:tcPr marL="142875" marR="142875" marT="114300" marB="95250" anchor="ctr">
                    <a:solidFill>
                      <a:srgbClr val="182E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Noto Sans CJK KR"/>
                          <a:ea typeface="Noto Sans CJK KR"/>
                          <a:cs typeface="Noto Sans CJK KR"/>
                        </a:rPr>
                        <a:t>조사할 내용</a:t>
                      </a:r>
                    </a:p>
                  </a:txBody>
                  <a:tcPr marL="142875" marR="142875" marT="114300" marB="95250" anchor="ctr">
                    <a:solidFill>
                      <a:srgbClr val="182E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Noto Sans CJK KR"/>
                          <a:ea typeface="Noto Sans CJK KR"/>
                          <a:cs typeface="Noto Sans CJK KR"/>
                        </a:rPr>
                        <a:t>자료가 뒷받침할 주장</a:t>
                      </a:r>
                    </a:p>
                  </a:txBody>
                  <a:tcPr marL="142875" marR="142875" marT="114300" marB="95250" anchor="ctr">
                    <a:solidFill>
                      <a:srgbClr val="182E4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52463">
                <a:tc>
                  <a:txBody>
                    <a:bodyPr/>
                    <a:lstStyle/>
                    <a:p>
                      <a:r>
                        <a:rPr sz="1725" b="0" dirty="0" err="1">
                          <a:solidFill>
                            <a:srgbClr val="182E43"/>
                          </a:solidFill>
                          <a:latin typeface="Noto Sans CJK KR"/>
                          <a:ea typeface="Noto Sans CJK KR"/>
                          <a:cs typeface="Noto Sans CJK KR"/>
                        </a:rPr>
                        <a:t>문헌</a:t>
                      </a:r>
                      <a:r>
                        <a:rPr lang="en-US" sz="1725" b="0" dirty="0">
                          <a:solidFill>
                            <a:srgbClr val="182E43"/>
                          </a:solidFill>
                          <a:latin typeface="Noto Sans CJK KR"/>
                          <a:ea typeface="Noto Sans CJK KR"/>
                          <a:cs typeface="Noto Sans CJK KR"/>
                        </a:rPr>
                        <a:t>/</a:t>
                      </a:r>
                      <a:r>
                        <a:rPr lang="ko-KR" altLang="en-US" sz="1725" b="0" dirty="0">
                          <a:solidFill>
                            <a:srgbClr val="182E43"/>
                          </a:solidFill>
                          <a:latin typeface="Noto Sans CJK KR"/>
                          <a:ea typeface="Noto Sans CJK KR"/>
                          <a:cs typeface="Noto Sans CJK KR"/>
                        </a:rPr>
                        <a:t>기사</a:t>
                      </a:r>
                      <a:r>
                        <a:rPr sz="1725" b="0" dirty="0">
                          <a:solidFill>
                            <a:srgbClr val="182E43"/>
                          </a:solidFill>
                          <a:latin typeface="Noto Sans CJK KR"/>
                          <a:ea typeface="Noto Sans CJK KR"/>
                          <a:cs typeface="Noto Sans CJK KR"/>
                        </a:rPr>
                        <a:t>·</a:t>
                      </a:r>
                      <a:r>
                        <a:rPr sz="1725" b="0" dirty="0" err="1">
                          <a:solidFill>
                            <a:srgbClr val="182E43"/>
                          </a:solidFill>
                          <a:latin typeface="Noto Sans CJK KR"/>
                          <a:ea typeface="Noto Sans CJK KR"/>
                          <a:cs typeface="Noto Sans CJK KR"/>
                        </a:rPr>
                        <a:t>선행연구</a:t>
                      </a:r>
                      <a:endParaRPr sz="1725" b="0" dirty="0">
                        <a:solidFill>
                          <a:srgbClr val="182E43"/>
                        </a:solidFill>
                        <a:latin typeface="Noto Sans CJK KR"/>
                        <a:ea typeface="Noto Sans CJK KR"/>
                        <a:cs typeface="Noto Sans CJK KR"/>
                      </a:endParaRPr>
                    </a:p>
                  </a:txBody>
                  <a:tcPr marL="142875" marR="142875" marT="11430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950" b="0">
                          <a:solidFill>
                            <a:srgbClr val="182E43"/>
                          </a:solidFill>
                          <a:latin typeface="Noto Sans CJK KR"/>
                          <a:ea typeface="Noto Sans CJK KR"/>
                          <a:cs typeface="Noto Sans CJK KR"/>
                        </a:rPr>
                        <a:t>Liang, W. et al. (2023)</a:t>
                      </a:r>
                    </a:p>
                    <a:p>
                      <a:pPr>
                        <a:spcAft>
                          <a:spcPts val="100"/>
                        </a:spcAft>
                      </a:pPr>
                      <a:r>
                        <a:rPr sz="950" b="0">
                          <a:solidFill>
                            <a:srgbClr val="182E43"/>
                          </a:solidFill>
                          <a:latin typeface="Noto Sans CJK KR"/>
                          <a:ea typeface="Noto Sans CJK KR"/>
                          <a:cs typeface="Noto Sans CJK KR"/>
                        </a:rPr>
                        <a:t>비영어권 TOEFL 에세이로 GPT 탐지기 오탐률 측정</a:t>
                      </a:r>
                    </a:p>
                  </a:txBody>
                  <a:tcPr marL="142875" marR="142875" marT="11430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950" b="0">
                          <a:solidFill>
                            <a:srgbClr val="182E43"/>
                          </a:solidFill>
                          <a:latin typeface="Noto Sans CJK KR"/>
                          <a:ea typeface="Noto Sans CJK KR"/>
                          <a:cs typeface="Noto Sans CJK KR"/>
                        </a:rPr>
                        <a:t>비영어권 작성자가 오탐 대상이 된다.</a:t>
                      </a:r>
                    </a:p>
                    <a:p>
                      <a:pPr>
                        <a:spcAft>
                          <a:spcPts val="100"/>
                        </a:spcAft>
                      </a:pPr>
                      <a:r>
                        <a:rPr sz="950" b="0">
                          <a:solidFill>
                            <a:srgbClr val="182E43"/>
                          </a:solidFill>
                          <a:latin typeface="Noto Sans CJK KR"/>
                          <a:ea typeface="Noto Sans CJK KR"/>
                          <a:cs typeface="Noto Sans CJK KR"/>
                        </a:rPr>
                        <a:t>우리 팀과 국내 사용자가 그 대상에 속한다</a:t>
                      </a:r>
                    </a:p>
                  </a:txBody>
                  <a:tcPr marL="142875" marR="142875" marT="114300" marB="9525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52463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82E43"/>
                          </a:solidFill>
                          <a:latin typeface="Noto Sans CJK KR"/>
                          <a:ea typeface="Noto Sans CJK KR"/>
                          <a:cs typeface="Noto Sans CJK KR"/>
                        </a:rPr>
                        <a:t>공식 통계·보고서</a:t>
                      </a:r>
                    </a:p>
                  </a:txBody>
                  <a:tcPr marL="142875" marR="142875" marT="114300" marB="95250" anchor="ctr">
                    <a:solidFill>
                      <a:srgbClr val="F1F6F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950" b="0">
                          <a:solidFill>
                            <a:srgbClr val="182E43"/>
                          </a:solidFill>
                          <a:latin typeface="Noto Sans CJK KR"/>
                          <a:ea typeface="Noto Sans CJK KR"/>
                          <a:cs typeface="Noto Sans CJK KR"/>
                        </a:rPr>
                        <a:t>Vanderbilt University (2023.08) — Turnitin</a:t>
                      </a:r>
                    </a:p>
                    <a:p>
                      <a:pPr>
                        <a:spcAft>
                          <a:spcPts val="100"/>
                        </a:spcAft>
                      </a:pPr>
                      <a:r>
                        <a:rPr sz="950" b="0">
                          <a:solidFill>
                            <a:srgbClr val="182E43"/>
                          </a:solidFill>
                          <a:latin typeface="Noto Sans CJK KR"/>
                          <a:ea typeface="Noto Sans CJK KR"/>
                          <a:cs typeface="Noto Sans CJK KR"/>
                        </a:rPr>
                        <a:t>AI 탐지기 비활성화 공지와 그 근거</a:t>
                      </a:r>
                    </a:p>
                  </a:txBody>
                  <a:tcPr marL="142875" marR="142875" marT="114300" marB="95250" anchor="ctr">
                    <a:solidFill>
                      <a:srgbClr val="F1F6F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950" b="0">
                          <a:solidFill>
                            <a:srgbClr val="182E43"/>
                          </a:solidFill>
                          <a:latin typeface="Noto Sans CJK KR"/>
                          <a:ea typeface="Noto Sans CJK KR"/>
                          <a:cs typeface="Noto Sans CJK KR"/>
                        </a:rPr>
                        <a:t>기관이 탐지를 포기할 만큼 오탐 비용이 크다.</a:t>
                      </a:r>
                    </a:p>
                    <a:p>
                      <a:pPr>
                        <a:spcAft>
                          <a:spcPts val="100"/>
                        </a:spcAft>
                      </a:pPr>
                      <a:r>
                        <a:rPr sz="950" b="0">
                          <a:solidFill>
                            <a:srgbClr val="182E43"/>
                          </a:solidFill>
                          <a:latin typeface="Noto Sans CJK KR"/>
                          <a:ea typeface="Noto Sans CJK KR"/>
                          <a:cs typeface="Noto Sans CJK KR"/>
                        </a:rPr>
                        <a:t>‘탐지로 푸는 방식’ 이 이미 한계에 부딪혔다</a:t>
                      </a:r>
                    </a:p>
                  </a:txBody>
                  <a:tcPr marL="142875" marR="142875" marT="114300" marB="95250" anchor="ctr">
                    <a:solidFill>
                      <a:srgbClr val="F1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52463">
                <a:tc>
                  <a:txBody>
                    <a:bodyPr/>
                    <a:lstStyle/>
                    <a:p>
                      <a:r>
                        <a:rPr sz="1725" b="0" dirty="0" err="1">
                          <a:solidFill>
                            <a:srgbClr val="182E43"/>
                          </a:solidFill>
                          <a:latin typeface="Noto Sans CJK KR"/>
                          <a:ea typeface="Noto Sans CJK KR"/>
                          <a:cs typeface="Noto Sans CJK KR"/>
                        </a:rPr>
                        <a:t>관찰·인터뷰</a:t>
                      </a:r>
                      <a:r>
                        <a:rPr lang="en-US" sz="1725" b="0" dirty="0">
                          <a:solidFill>
                            <a:srgbClr val="182E43"/>
                          </a:solidFill>
                          <a:latin typeface="Noto Sans CJK KR"/>
                          <a:ea typeface="Noto Sans CJK KR"/>
                          <a:cs typeface="Noto Sans CJK KR"/>
                        </a:rPr>
                        <a:t>(</a:t>
                      </a:r>
                      <a:r>
                        <a:rPr lang="ko-KR" altLang="en-US" sz="1725" b="0" dirty="0">
                          <a:solidFill>
                            <a:srgbClr val="182E43"/>
                          </a:solidFill>
                          <a:latin typeface="Noto Sans CJK KR"/>
                          <a:ea typeface="Noto Sans CJK KR"/>
                          <a:cs typeface="Noto Sans CJK KR"/>
                        </a:rPr>
                        <a:t>기사</a:t>
                      </a:r>
                      <a:r>
                        <a:rPr lang="en-US" sz="1725" b="0" dirty="0">
                          <a:solidFill>
                            <a:srgbClr val="182E43"/>
                          </a:solidFill>
                          <a:latin typeface="Noto Sans CJK KR"/>
                          <a:ea typeface="Noto Sans CJK KR"/>
                          <a:cs typeface="Noto Sans CJK KR"/>
                        </a:rPr>
                        <a:t>)</a:t>
                      </a:r>
                      <a:r>
                        <a:rPr sz="1725" b="0" dirty="0">
                          <a:solidFill>
                            <a:srgbClr val="182E43"/>
                          </a:solidFill>
                          <a:latin typeface="Noto Sans CJK KR"/>
                          <a:ea typeface="Noto Sans CJK KR"/>
                          <a:cs typeface="Noto Sans CJK KR"/>
                        </a:rPr>
                        <a:t> 등</a:t>
                      </a:r>
                    </a:p>
                  </a:txBody>
                  <a:tcPr marL="142875" marR="142875" marT="11430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950" b="0">
                          <a:solidFill>
                            <a:srgbClr val="182E43"/>
                          </a:solidFill>
                          <a:latin typeface="Noto Sans CJK KR"/>
                          <a:ea typeface="Noto Sans CJK KR"/>
                          <a:cs typeface="Noto Sans CJK KR"/>
                        </a:rPr>
                        <a:t>박재완 교수 인터뷰 (2026.09.16)</a:t>
                      </a:r>
                    </a:p>
                    <a:p>
                      <a:pPr>
                        <a:spcAft>
                          <a:spcPts val="100"/>
                        </a:spcAft>
                      </a:pPr>
                      <a:r>
                        <a:rPr sz="950" b="0">
                          <a:solidFill>
                            <a:srgbClr val="182E43"/>
                          </a:solidFill>
                          <a:latin typeface="Noto Sans CJK KR"/>
                          <a:ea typeface="Noto Sans CJK KR"/>
                          <a:cs typeface="Noto Sans CJK KR"/>
                        </a:rPr>
                        <a:t>커미션 작가 · 학생 인터뷰 8~10명 진행 예정</a:t>
                      </a:r>
                    </a:p>
                  </a:txBody>
                  <a:tcPr marL="142875" marR="142875" marT="11430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950" b="0" dirty="0" err="1">
                          <a:solidFill>
                            <a:srgbClr val="182E43"/>
                          </a:solidFill>
                          <a:latin typeface="Noto Sans CJK KR"/>
                          <a:ea typeface="Noto Sans CJK KR"/>
                          <a:cs typeface="Noto Sans CJK KR"/>
                        </a:rPr>
                        <a:t>교육 현장에 실제 수요가 있음을 확인.</a:t>
                      </a:r>
                      <a:endParaRPr sz="1725" b="0" dirty="0">
                        <a:solidFill>
                          <a:srgbClr val="182E43"/>
                        </a:solidFill>
                        <a:latin typeface="Noto Sans CJK KR"/>
                        <a:ea typeface="Noto Sans CJK KR"/>
                        <a:cs typeface="Noto Sans CJK KR"/>
                      </a:endParaRPr>
                    </a:p>
                    <a:p>
                      <a:pPr>
                        <a:spcAft>
                          <a:spcPts val="100"/>
                        </a:spcAft>
                      </a:pPr>
                      <a:r>
                        <a:rPr sz="950" b="0" dirty="0" err="1">
                          <a:solidFill>
                            <a:srgbClr val="182E43"/>
                          </a:solidFill>
                          <a:latin typeface="Noto Sans CJK KR"/>
                          <a:ea typeface="Noto Sans CJK KR"/>
                          <a:cs typeface="Noto Sans CJK KR"/>
                        </a:rPr>
                        <a:t>작가군의 수요는 아직 미검증 (팀의 가설)</a:t>
                      </a:r>
                    </a:p>
                  </a:txBody>
                  <a:tcPr marL="142875" marR="142875" marT="114300" marB="9525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" name="직사각형 9">
            <a:extLst>
              <a:ext uri="{FF2B5EF4-FFF2-40B4-BE49-F238E27FC236}">
                <a16:creationId xmlns:a16="http://schemas.microsoft.com/office/drawing/2014/main" id="{FECCB158-2D7C-4408-9DB7-6143E0ACAC9F}"/>
              </a:ext>
            </a:extLst>
          </p:cNvPr>
          <p:cNvSpPr>
            <a:spLocks noGrp="1"/>
          </p:cNvSpPr>
          <p:nvPr/>
        </p:nvSpPr>
        <p:spPr>
          <a:xfrm>
            <a:off x="723900" y="6038850"/>
            <a:ext cx="1362075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325" b="1">
                <a:solidFill>
                  <a:srgbClr val="007E87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2325" b="1">
                <a:solidFill>
                  <a:srgbClr val="007E87"/>
                </a:solidFill>
                <a:latin typeface="Noto Sans CJK KR"/>
                <a:ea typeface="Noto Sans CJK KR"/>
                <a:cs typeface="Noto Sans CJK KR"/>
              </a:rPr>
              <a:t>핵심 문제를 한 문장으로 정의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6891289E-775C-4200-B092-3F93AF942F8E}"/>
              </a:ext>
            </a:extLst>
          </p:cNvPr>
          <p:cNvSpPr>
            <a:spLocks noGrp="1"/>
          </p:cNvSpPr>
          <p:nvPr/>
        </p:nvSpPr>
        <p:spPr>
          <a:xfrm>
            <a:off x="723900" y="6648450"/>
            <a:ext cx="13620750" cy="857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300"/>
              </a:spcAft>
              <a:defRPr sz="2325" b="1">
                <a:solidFill>
                  <a:srgbClr val="182E43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900" b="1">
                <a:solidFill>
                  <a:srgbClr val="182E43"/>
                </a:solidFill>
                <a:latin typeface="Noto Sans CJK KR"/>
                <a:ea typeface="Noto Sans CJK KR"/>
                <a:cs typeface="Noto Sans CJK KR"/>
              </a:rPr>
              <a:t>“컴퓨터로 결과물을 만들어 제출하는 사람은, 제출 이후 AI 사용을 의심받는 상황에서</a:t>
            </a:r>
          </a:p>
          <a:p>
            <a:pPr>
              <a:spcAft>
                <a:spcPts val="300"/>
              </a:spcAft>
            </a:pPr>
            <a:r>
              <a:rPr sz="1900" b="1">
                <a:solidFill>
                  <a:srgbClr val="182E43"/>
                </a:solidFill>
                <a:latin typeface="Noto Sans CJK KR"/>
                <a:ea typeface="Noto Sans CJK KR"/>
                <a:cs typeface="Noto Sans CJK KR"/>
              </a:rPr>
              <a:t>과정 기록이 본인 기기에만 남고 언제든 고칠 수 있다는 제약 때문에, 결백을 보일 수 없다.”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ED2B3B4F-3B4B-475F-BF2C-B5F11F5050F0}"/>
              </a:ext>
            </a:extLst>
          </p:cNvPr>
          <p:cNvSpPr>
            <a:spLocks noGrp="1"/>
          </p:cNvSpPr>
          <p:nvPr/>
        </p:nvSpPr>
        <p:spPr>
          <a:xfrm>
            <a:off x="723900" y="7696200"/>
            <a:ext cx="1257300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100"/>
              </a:spcAft>
              <a:defRPr sz="1575" b="0">
                <a:solidFill>
                  <a:srgbClr val="516274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950" b="0">
                <a:solidFill>
                  <a:srgbClr val="516274"/>
                </a:solidFill>
                <a:latin typeface="Noto Sans CJK KR"/>
                <a:ea typeface="Noto Sans CJK KR"/>
                <a:cs typeface="Noto Sans CJK KR"/>
              </a:rPr>
              <a:t>Liang, W. et al. (2023). GPT detectors are biased against non-native English writers. Patterns 4(7), Cell Press.   ·   Vanderbilt University (2023.08.16). Guidance on AI Detection and Why We’re Disabling Turnitin’s AI Detector. vanderbilt.edu/brightspace</a:t>
            </a:r>
          </a:p>
          <a:p>
            <a:pPr>
              <a:spcAft>
                <a:spcPts val="100"/>
              </a:spcAft>
            </a:pPr>
            <a:r>
              <a:rPr sz="950" b="0">
                <a:solidFill>
                  <a:srgbClr val="516274"/>
                </a:solidFill>
                <a:latin typeface="Noto Sans CJK KR"/>
                <a:ea typeface="Noto Sans CJK KR"/>
                <a:cs typeface="Noto Sans CJK KR"/>
              </a:rPr>
              <a:t>박재완 교수 인터뷰 (2026.09.16, 대면)   ·   통계 인용은 각 문헌의 조사 대상·기간을 그대로 따랐으며, 팀이 추가 가공한 수치는 없음</a:t>
            </a:r>
          </a:p>
        </p:txBody>
      </p:sp>
    </p:spTree>
    <p:extLst>
      <p:ext uri="{BB962C8B-B14F-4D97-AF65-F5344CB8AC3E}">
        <p14:creationId xmlns:p14="http://schemas.microsoft.com/office/powerpoint/2010/main" val="185393145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직사각형 11">
            <a:extLst>
              <a:ext uri="{FF2B5EF4-FFF2-40B4-BE49-F238E27FC236}">
                <a16:creationId xmlns:a16="http://schemas.microsoft.com/office/drawing/2014/main" id="{9F1C1095-EDA5-433F-97FA-4CDAFECFC645}"/>
              </a:ext>
            </a:extLst>
          </p:cNvPr>
          <p:cNvSpPr>
            <a:spLocks noGrp="1"/>
          </p:cNvSpPr>
          <p:nvPr/>
        </p:nvSpPr>
        <p:spPr>
          <a:xfrm>
            <a:off x="723900" y="333375"/>
            <a:ext cx="1238250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  <a:defRPr sz="1575" b="1">
                <a:solidFill>
                  <a:srgbClr val="007E87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575" b="1" dirty="0" err="1">
                <a:solidFill>
                  <a:srgbClr val="007E87"/>
                </a:solidFill>
                <a:latin typeface="Noto Sans CJK KR"/>
                <a:ea typeface="Noto Sans CJK KR"/>
                <a:cs typeface="Noto Sans CJK KR"/>
              </a:rPr>
              <a:t>창의프로젝트   서비스 계획 수립:  김용현 · [팀원 이름]</a:t>
            </a:r>
            <a:endParaRPr sz="1575" b="1" dirty="0">
              <a:solidFill>
                <a:srgbClr val="007E87"/>
              </a:solidFill>
              <a:latin typeface="Noto Sans CJK KR"/>
              <a:ea typeface="Noto Sans CJK KR"/>
              <a:cs typeface="Noto Sans CJK KR"/>
            </a:endParaRP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0ED2D339-8424-41FE-A681-460DF456272C}"/>
              </a:ext>
            </a:extLst>
          </p:cNvPr>
          <p:cNvSpPr>
            <a:spLocks noGrp="1"/>
          </p:cNvSpPr>
          <p:nvPr/>
        </p:nvSpPr>
        <p:spPr>
          <a:xfrm>
            <a:off x="723900" y="838200"/>
            <a:ext cx="13716000" cy="666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3600" b="1">
                <a:solidFill>
                  <a:srgbClr val="182E43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3600" b="1">
                <a:solidFill>
                  <a:srgbClr val="182E43"/>
                </a:solidFill>
                <a:latin typeface="Noto Sans CJK KR"/>
                <a:ea typeface="Noto Sans CJK KR"/>
                <a:cs typeface="Noto Sans CJK KR"/>
              </a:rPr>
              <a:t>유사사례의 한계와 Research Questions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94F54938-7320-4D8C-A263-02D224554326}"/>
              </a:ext>
            </a:extLst>
          </p:cNvPr>
          <p:cNvSpPr>
            <a:spLocks noGrp="1"/>
          </p:cNvSpPr>
          <p:nvPr/>
        </p:nvSpPr>
        <p:spPr>
          <a:xfrm>
            <a:off x="723900" y="1581150"/>
            <a:ext cx="137160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025" b="0">
                <a:solidFill>
                  <a:srgbClr val="516274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2025" b="0" dirty="0" err="1">
                <a:solidFill>
                  <a:srgbClr val="516274"/>
                </a:solidFill>
                <a:latin typeface="Noto Sans CJK KR"/>
                <a:ea typeface="Noto Sans CJK KR"/>
                <a:cs typeface="Noto Sans CJK KR"/>
              </a:rPr>
              <a:t>관련</a:t>
            </a:r>
            <a:r>
              <a:rPr sz="2025" b="0" dirty="0">
                <a:solidFill>
                  <a:srgbClr val="516274"/>
                </a:solidFill>
                <a:latin typeface="Noto Sans CJK KR"/>
                <a:ea typeface="Noto Sans CJK KR"/>
                <a:cs typeface="Noto Sans CJK KR"/>
              </a:rPr>
              <a:t> </a:t>
            </a:r>
            <a:r>
              <a:rPr sz="2025" b="0" dirty="0" err="1">
                <a:solidFill>
                  <a:srgbClr val="516274"/>
                </a:solidFill>
                <a:latin typeface="Noto Sans CJK KR"/>
                <a:ea typeface="Noto Sans CJK KR"/>
                <a:cs typeface="Noto Sans CJK KR"/>
              </a:rPr>
              <a:t>서비스·앱·연구</a:t>
            </a:r>
            <a:r>
              <a:rPr sz="2025" b="0" dirty="0">
                <a:solidFill>
                  <a:srgbClr val="516274"/>
                </a:solidFill>
                <a:latin typeface="Noto Sans CJK KR"/>
                <a:ea typeface="Noto Sans CJK KR"/>
                <a:cs typeface="Noto Sans CJK KR"/>
              </a:rPr>
              <a:t> </a:t>
            </a:r>
            <a:r>
              <a:rPr lang="en-US" sz="2025" b="0" dirty="0">
                <a:solidFill>
                  <a:srgbClr val="516274"/>
                </a:solidFill>
                <a:latin typeface="Noto Sans CJK KR"/>
                <a:ea typeface="Noto Sans CJK KR"/>
                <a:cs typeface="Noto Sans CJK KR"/>
              </a:rPr>
              <a:t>1</a:t>
            </a:r>
            <a:r>
              <a:rPr sz="2025" b="0" dirty="0">
                <a:solidFill>
                  <a:srgbClr val="516274"/>
                </a:solidFill>
                <a:latin typeface="Noto Sans CJK KR"/>
                <a:ea typeface="Noto Sans CJK KR"/>
                <a:cs typeface="Noto Sans CJK KR"/>
              </a:rPr>
              <a:t>~3개를 </a:t>
            </a:r>
            <a:r>
              <a:rPr sz="2025" b="0" dirty="0" err="1">
                <a:solidFill>
                  <a:srgbClr val="516274"/>
                </a:solidFill>
                <a:latin typeface="Noto Sans CJK KR"/>
                <a:ea typeface="Noto Sans CJK KR"/>
                <a:cs typeface="Noto Sans CJK KR"/>
              </a:rPr>
              <a:t>비교하여</a:t>
            </a:r>
            <a:r>
              <a:rPr sz="2025" b="0" dirty="0">
                <a:solidFill>
                  <a:srgbClr val="516274"/>
                </a:solidFill>
                <a:latin typeface="Noto Sans CJK KR"/>
                <a:ea typeface="Noto Sans CJK KR"/>
                <a:cs typeface="Noto Sans CJK KR"/>
              </a:rPr>
              <a:t>, </a:t>
            </a:r>
            <a:r>
              <a:rPr sz="2025" b="0" dirty="0" err="1">
                <a:solidFill>
                  <a:srgbClr val="516274"/>
                </a:solidFill>
                <a:latin typeface="Noto Sans CJK KR"/>
                <a:ea typeface="Noto Sans CJK KR"/>
                <a:cs typeface="Noto Sans CJK KR"/>
              </a:rPr>
              <a:t>아직</a:t>
            </a:r>
            <a:r>
              <a:rPr sz="2025" b="0" dirty="0">
                <a:solidFill>
                  <a:srgbClr val="516274"/>
                </a:solidFill>
                <a:latin typeface="Noto Sans CJK KR"/>
                <a:ea typeface="Noto Sans CJK KR"/>
                <a:cs typeface="Noto Sans CJK KR"/>
              </a:rPr>
              <a:t> </a:t>
            </a:r>
            <a:r>
              <a:rPr sz="2025" b="0" dirty="0" err="1">
                <a:solidFill>
                  <a:srgbClr val="516274"/>
                </a:solidFill>
                <a:latin typeface="Noto Sans CJK KR"/>
                <a:ea typeface="Noto Sans CJK KR"/>
                <a:cs typeface="Noto Sans CJK KR"/>
              </a:rPr>
              <a:t>해결하지</a:t>
            </a:r>
            <a:r>
              <a:rPr sz="2025" b="0" dirty="0">
                <a:solidFill>
                  <a:srgbClr val="516274"/>
                </a:solidFill>
                <a:latin typeface="Noto Sans CJK KR"/>
                <a:ea typeface="Noto Sans CJK KR"/>
                <a:cs typeface="Noto Sans CJK KR"/>
              </a:rPr>
              <a:t> </a:t>
            </a:r>
            <a:r>
              <a:rPr sz="2025" b="0" dirty="0" err="1">
                <a:solidFill>
                  <a:srgbClr val="516274"/>
                </a:solidFill>
                <a:latin typeface="Noto Sans CJK KR"/>
                <a:ea typeface="Noto Sans CJK KR"/>
                <a:cs typeface="Noto Sans CJK KR"/>
              </a:rPr>
              <a:t>못한</a:t>
            </a:r>
            <a:r>
              <a:rPr sz="2025" b="0" dirty="0">
                <a:solidFill>
                  <a:srgbClr val="516274"/>
                </a:solidFill>
                <a:latin typeface="Noto Sans CJK KR"/>
                <a:ea typeface="Noto Sans CJK KR"/>
                <a:cs typeface="Noto Sans CJK KR"/>
              </a:rPr>
              <a:t> </a:t>
            </a:r>
            <a:r>
              <a:rPr sz="2025" b="0" dirty="0" err="1">
                <a:solidFill>
                  <a:srgbClr val="516274"/>
                </a:solidFill>
                <a:latin typeface="Noto Sans CJK KR"/>
                <a:ea typeface="Noto Sans CJK KR"/>
                <a:cs typeface="Noto Sans CJK KR"/>
              </a:rPr>
              <a:t>문제를</a:t>
            </a:r>
            <a:r>
              <a:rPr sz="2025" b="0" dirty="0">
                <a:solidFill>
                  <a:srgbClr val="516274"/>
                </a:solidFill>
                <a:latin typeface="Noto Sans CJK KR"/>
                <a:ea typeface="Noto Sans CJK KR"/>
                <a:cs typeface="Noto Sans CJK KR"/>
              </a:rPr>
              <a:t> </a:t>
            </a:r>
            <a:r>
              <a:rPr sz="2025" b="0" dirty="0" err="1">
                <a:solidFill>
                  <a:srgbClr val="516274"/>
                </a:solidFill>
                <a:latin typeface="Noto Sans CJK KR"/>
                <a:ea typeface="Noto Sans CJK KR"/>
                <a:cs typeface="Noto Sans CJK KR"/>
              </a:rPr>
              <a:t>도출합니다</a:t>
            </a:r>
            <a:r>
              <a:rPr sz="2025" b="0" dirty="0">
                <a:solidFill>
                  <a:srgbClr val="516274"/>
                </a:solidFill>
                <a:latin typeface="Noto Sans CJK KR"/>
                <a:ea typeface="Noto Sans CJK KR"/>
                <a:cs typeface="Noto Sans CJK KR"/>
              </a:rPr>
              <a:t>.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C6E3703D-C367-43E7-BAAA-CB440D414202}"/>
              </a:ext>
            </a:extLst>
          </p:cNvPr>
          <p:cNvSpPr>
            <a:spLocks noGrp="1"/>
          </p:cNvSpPr>
          <p:nvPr/>
        </p:nvSpPr>
        <p:spPr>
          <a:xfrm>
            <a:off x="13335000" y="8058150"/>
            <a:ext cx="11430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defRPr sz="1500" b="0">
                <a:solidFill>
                  <a:srgbClr val="516274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500" b="0">
                <a:solidFill>
                  <a:srgbClr val="516274"/>
                </a:solidFill>
                <a:latin typeface="Noto Sans CJK KR"/>
                <a:ea typeface="Noto Sans CJK KR"/>
                <a:cs typeface="Noto Sans CJK KR"/>
              </a:rPr>
              <a:t>02 / 03</a:t>
            </a:r>
          </a:p>
        </p:txBody>
      </p:sp>
      <p:graphicFrame>
        <p:nvGraphicFramePr>
          <p:cNvPr id="16" name="표 15"/>
          <p:cNvGraphicFramePr/>
          <p:nvPr/>
        </p:nvGraphicFramePr>
        <p:xfrm>
          <a:off x="723900" y="2343150"/>
          <a:ext cx="13754100" cy="2552700"/>
        </p:xfrm>
        <a:graphic>
          <a:graphicData uri="http://schemas.openxmlformats.org/drawingml/2006/table">
            <a:tbl>
              <a:tblPr/>
              <a:tblGrid>
                <a:gridCol w="25241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197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8102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38175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Noto Sans CJK KR"/>
                          <a:ea typeface="Noto Sans CJK KR"/>
                          <a:cs typeface="Noto Sans CJK KR"/>
                        </a:rPr>
                        <a:t>비교 기준</a:t>
                      </a:r>
                    </a:p>
                  </a:txBody>
                  <a:tcPr marL="142875" marR="142875" marT="114300" marB="95250" anchor="ctr">
                    <a:solidFill>
                      <a:srgbClr val="182E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Noto Sans CJK KR"/>
                          <a:ea typeface="Noto Sans CJK KR"/>
                          <a:cs typeface="Noto Sans CJK KR"/>
                        </a:rPr>
                        <a:t>각 사례에서 확인할 내용</a:t>
                      </a:r>
                    </a:p>
                  </a:txBody>
                  <a:tcPr marL="142875" marR="142875" marT="114300" marB="95250" anchor="ctr">
                    <a:solidFill>
                      <a:srgbClr val="182E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Noto Sans CJK KR"/>
                          <a:ea typeface="Noto Sans CJK KR"/>
                          <a:cs typeface="Noto Sans CJK KR"/>
                        </a:rPr>
                        <a:t>우리 프로젝트에서 도출할 판단</a:t>
                      </a:r>
                    </a:p>
                  </a:txBody>
                  <a:tcPr marL="142875" marR="142875" marT="114300" marB="95250" anchor="ctr">
                    <a:solidFill>
                      <a:srgbClr val="182E4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38175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82E43"/>
                          </a:solidFill>
                          <a:latin typeface="Noto Sans CJK KR"/>
                          <a:ea typeface="Noto Sans CJK KR"/>
                          <a:cs typeface="Noto Sans CJK KR"/>
                        </a:rPr>
                        <a:t>대상과 사용 맥락</a:t>
                      </a:r>
                    </a:p>
                  </a:txBody>
                  <a:tcPr marL="142875" marR="142875" marT="11430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950" b="0">
                          <a:solidFill>
                            <a:srgbClr val="182E43"/>
                          </a:solidFill>
                          <a:latin typeface="Noto Sans CJK KR"/>
                          <a:ea typeface="Noto Sans CJK KR"/>
                          <a:cs typeface="Noto Sans CJK KR"/>
                        </a:rPr>
                        <a:t>Grammarly Authorship — Google 문서에서 글 쓰는 학생  ·  Turnitin Clarity — 기관이 계약한 학생</a:t>
                      </a:r>
                    </a:p>
                    <a:p>
                      <a:pPr>
                        <a:spcAft>
                          <a:spcPts val="100"/>
                        </a:spcAft>
                      </a:pPr>
                      <a:r>
                        <a:rPr sz="950" b="0">
                          <a:solidFill>
                            <a:srgbClr val="182E43"/>
                          </a:solidFill>
                          <a:latin typeface="Noto Sans CJK KR"/>
                          <a:ea typeface="Noto Sans CJK KR"/>
                          <a:cs typeface="Noto Sans CJK KR"/>
                        </a:rPr>
                        <a:t>Procreate 타임랩스 — 해당 앱으로 그리는 작가</a:t>
                      </a:r>
                    </a:p>
                  </a:txBody>
                  <a:tcPr marL="142875" marR="142875" marT="11430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950" b="0">
                          <a:solidFill>
                            <a:srgbClr val="182E43"/>
                          </a:solidFill>
                          <a:latin typeface="Noto Sans CJK KR"/>
                          <a:ea typeface="Noto Sans CJK KR"/>
                          <a:cs typeface="Noto Sans CJK KR"/>
                        </a:rPr>
                        <a:t>셋 다 ‘특정 도구 안에서’ 만 동작한다. 여러 앱(문서 · 편집 · 코드)을</a:t>
                      </a:r>
                    </a:p>
                    <a:p>
                      <a:pPr>
                        <a:spcAft>
                          <a:spcPts val="100"/>
                        </a:spcAft>
                      </a:pPr>
                      <a:r>
                        <a:rPr sz="950" b="0">
                          <a:solidFill>
                            <a:srgbClr val="182E43"/>
                          </a:solidFill>
                          <a:latin typeface="Noto Sans CJK KR"/>
                          <a:ea typeface="Noto Sans CJK KR"/>
                          <a:cs typeface="Noto Sans CJK KR"/>
                        </a:rPr>
                        <a:t>오가며 만드는 우리 대상에는 그대로 적용되지 않는다</a:t>
                      </a:r>
                    </a:p>
                  </a:txBody>
                  <a:tcPr marL="142875" marR="142875" marT="114300" marB="9525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38175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82E43"/>
                          </a:solidFill>
                          <a:latin typeface="Noto Sans CJK KR"/>
                          <a:ea typeface="Noto Sans CJK KR"/>
                          <a:cs typeface="Noto Sans CJK KR"/>
                        </a:rPr>
                        <a:t>해결 방식과 기능</a:t>
                      </a:r>
                    </a:p>
                  </a:txBody>
                  <a:tcPr marL="142875" marR="142875" marT="114300" marB="95250" anchor="ctr">
                    <a:solidFill>
                      <a:srgbClr val="F1F6F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950" b="0">
                          <a:solidFill>
                            <a:srgbClr val="182E43"/>
                          </a:solidFill>
                          <a:latin typeface="Noto Sans CJK KR"/>
                          <a:ea typeface="Noto Sans CJK KR"/>
                          <a:cs typeface="Noto Sans CJK KR"/>
                        </a:rPr>
                        <a:t>Authorship — 타이핑 · 붙여넣기 · AI 요청을 문장 단위로 구분해 색으로 표시하고 과정을 재생</a:t>
                      </a:r>
                    </a:p>
                    <a:p>
                      <a:pPr>
                        <a:spcAft>
                          <a:spcPts val="100"/>
                        </a:spcAft>
                      </a:pPr>
                      <a:r>
                        <a:rPr sz="950" b="0">
                          <a:solidFill>
                            <a:srgbClr val="182E43"/>
                          </a:solidFill>
                          <a:latin typeface="Noto Sans CJK KR"/>
                          <a:ea typeface="Noto Sans CJK KR"/>
                          <a:cs typeface="Noto Sans CJK KR"/>
                        </a:rPr>
                        <a:t>타임랩스 — 작업 화면을 영상으로 녹화</a:t>
                      </a:r>
                    </a:p>
                  </a:txBody>
                  <a:tcPr marL="142875" marR="142875" marT="114300" marB="95250" anchor="ctr">
                    <a:solidFill>
                      <a:srgbClr val="F1F6F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950" b="0">
                          <a:solidFill>
                            <a:srgbClr val="182E43"/>
                          </a:solidFill>
                          <a:latin typeface="Noto Sans CJK KR"/>
                          <a:ea typeface="Noto Sans CJK KR"/>
                          <a:cs typeface="Noto Sans CJK KR"/>
                        </a:rPr>
                        <a:t>‘출처를 구분해 보여준다’ 는 방식은 유효하다. 우리는 이를 도구에</a:t>
                      </a:r>
                    </a:p>
                    <a:p>
                      <a:pPr>
                        <a:spcAft>
                          <a:spcPts val="100"/>
                        </a:spcAft>
                      </a:pPr>
                      <a:r>
                        <a:rPr sz="950" b="0">
                          <a:solidFill>
                            <a:srgbClr val="182E43"/>
                          </a:solidFill>
                          <a:latin typeface="Noto Sans CJK KR"/>
                          <a:ea typeface="Noto Sans CJK KR"/>
                          <a:cs typeface="Noto Sans CJK KR"/>
                        </a:rPr>
                        <a:t>상관없이 적용하고, 기록 자체의 위조 방지를 더한다</a:t>
                      </a:r>
                    </a:p>
                  </a:txBody>
                  <a:tcPr marL="142875" marR="142875" marT="114300" marB="95250" anchor="ctr">
                    <a:solidFill>
                      <a:srgbClr val="F1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38175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82E43"/>
                          </a:solidFill>
                          <a:latin typeface="Noto Sans CJK KR"/>
                          <a:ea typeface="Noto Sans CJK KR"/>
                          <a:cs typeface="Noto Sans CJK KR"/>
                        </a:rPr>
                        <a:t>성과와 한계</a:t>
                      </a:r>
                    </a:p>
                  </a:txBody>
                  <a:tcPr marL="142875" marR="142875" marT="11430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950" b="0">
                          <a:solidFill>
                            <a:srgbClr val="182E43"/>
                          </a:solidFill>
                          <a:latin typeface="Noto Sans CJK KR"/>
                          <a:ea typeface="Noto Sans CJK KR"/>
                          <a:cs typeface="Noto Sans CJK KR"/>
                        </a:rPr>
                        <a:t>Authorship — 자기 에디터 밖의 작업은 보지 못하고, 기록을 봉인하는 장치가 없다</a:t>
                      </a:r>
                    </a:p>
                    <a:p>
                      <a:pPr>
                        <a:spcAft>
                          <a:spcPts val="100"/>
                        </a:spcAft>
                      </a:pPr>
                      <a:r>
                        <a:rPr sz="950" b="0">
                          <a:solidFill>
                            <a:srgbClr val="182E43"/>
                          </a:solidFill>
                          <a:latin typeface="Noto Sans CJK KR"/>
                          <a:ea typeface="Noto Sans CJK KR"/>
                          <a:cs typeface="Noto Sans CJK KR"/>
                        </a:rPr>
                        <a:t>타임랩스 — “그것도 만들 수 있다”는 반론에 무력</a:t>
                      </a:r>
                    </a:p>
                  </a:txBody>
                  <a:tcPr marL="142875" marR="142875" marT="11430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950" b="0">
                          <a:solidFill>
                            <a:srgbClr val="182E43"/>
                          </a:solidFill>
                          <a:latin typeface="Noto Sans CJK KR"/>
                          <a:ea typeface="Noto Sans CJK KR"/>
                          <a:cs typeface="Noto Sans CJK KR"/>
                        </a:rPr>
                        <a:t>미해결 문제 = ① 도구를 가리지 않는 수집  ② 만든 사람도 나중에</a:t>
                      </a:r>
                    </a:p>
                    <a:p>
                      <a:pPr>
                        <a:spcAft>
                          <a:spcPts val="100"/>
                        </a:spcAft>
                      </a:pPr>
                      <a:r>
                        <a:rPr sz="950" b="0">
                          <a:solidFill>
                            <a:srgbClr val="182E43"/>
                          </a:solidFill>
                          <a:latin typeface="Noto Sans CJK KR"/>
                          <a:ea typeface="Noto Sans CJK KR"/>
                          <a:cs typeface="Noto Sans CJK KR"/>
                        </a:rPr>
                        <a:t>고칠 수 없는 기록  ③ 제3자가 30초 안에 확인하는 화면</a:t>
                      </a:r>
                    </a:p>
                  </a:txBody>
                  <a:tcPr marL="142875" marR="142875" marT="114300" marB="9525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직사각형 5">
            <a:extLst>
              <a:ext uri="{FF2B5EF4-FFF2-40B4-BE49-F238E27FC236}">
                <a16:creationId xmlns:a16="http://schemas.microsoft.com/office/drawing/2014/main" id="{5E292622-B487-4835-8792-BE74C15BE6CF}"/>
              </a:ext>
            </a:extLst>
          </p:cNvPr>
          <p:cNvSpPr>
            <a:spLocks noGrp="1"/>
          </p:cNvSpPr>
          <p:nvPr/>
        </p:nvSpPr>
        <p:spPr>
          <a:xfrm>
            <a:off x="723900" y="5143500"/>
            <a:ext cx="13754100" cy="6953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300"/>
              </a:spcAft>
              <a:defRPr sz="2100" b="1">
                <a:solidFill>
                  <a:srgbClr val="007E87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600" b="1">
                <a:solidFill>
                  <a:srgbClr val="007E87"/>
                </a:solidFill>
                <a:latin typeface="Noto Sans CJK KR"/>
                <a:ea typeface="Noto Sans CJK KR"/>
                <a:cs typeface="Noto Sans CJK KR"/>
              </a:rPr>
              <a:t>차별점:  “기존 사례는 자기 도구 안의 글만 다루고 기록의 위조를 막지 못하므로,</a:t>
            </a:r>
          </a:p>
          <a:p>
            <a:pPr>
              <a:spcAft>
                <a:spcPts val="300"/>
              </a:spcAft>
            </a:pPr>
            <a:r>
              <a:rPr sz="1600" b="1">
                <a:solidFill>
                  <a:srgbClr val="007E87"/>
                </a:solidFill>
                <a:latin typeface="Noto Sans CJK KR"/>
                <a:ea typeface="Noto Sans CJK KR"/>
                <a:cs typeface="Noto Sans CJK KR"/>
              </a:rPr>
              <a:t>우리는 도구에 상관없이 과정을 수집하고 해시 체인으로 봉인해 제3자가 확인하는 방식을 제안한다.”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66C303EE-0B5E-410C-BBC8-91BFD7871585}"/>
              </a:ext>
            </a:extLst>
          </p:cNvPr>
          <p:cNvSpPr>
            <a:spLocks noGrp="1"/>
          </p:cNvSpPr>
          <p:nvPr/>
        </p:nvSpPr>
        <p:spPr>
          <a:xfrm>
            <a:off x="723900" y="6172200"/>
            <a:ext cx="590550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250" b="1">
                <a:solidFill>
                  <a:srgbClr val="182E43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lang="ko-KR" altLang="en-US" sz="2250" b="1" dirty="0">
                <a:solidFill>
                  <a:srgbClr val="182E43"/>
                </a:solidFill>
                <a:latin typeface="Noto Sans CJK KR"/>
                <a:ea typeface="Noto Sans CJK KR"/>
                <a:cs typeface="Noto Sans CJK KR"/>
              </a:rPr>
              <a:t>구체적인 해결안을 도출을 </a:t>
            </a:r>
            <a:r>
              <a:rPr sz="2250" b="1" dirty="0" err="1">
                <a:solidFill>
                  <a:srgbClr val="182E43"/>
                </a:solidFill>
                <a:latin typeface="Noto Sans CJK KR"/>
                <a:ea typeface="Noto Sans CJK KR"/>
                <a:cs typeface="Noto Sans CJK KR"/>
              </a:rPr>
              <a:t>질문</a:t>
            </a:r>
            <a:r>
              <a:rPr sz="2250" b="1" dirty="0">
                <a:solidFill>
                  <a:srgbClr val="182E43"/>
                </a:solidFill>
                <a:latin typeface="Noto Sans CJK KR"/>
                <a:ea typeface="Noto Sans CJK KR"/>
                <a:cs typeface="Noto Sans CJK KR"/>
              </a:rPr>
              <a:t> </a:t>
            </a:r>
            <a:r>
              <a:rPr lang="en-US" sz="2250" b="1" dirty="0">
                <a:solidFill>
                  <a:srgbClr val="182E43"/>
                </a:solidFill>
                <a:latin typeface="Noto Sans CJK KR"/>
                <a:ea typeface="Noto Sans CJK KR"/>
                <a:cs typeface="Noto Sans CJK KR"/>
              </a:rPr>
              <a:t>2</a:t>
            </a:r>
            <a:r>
              <a:rPr sz="2250" b="1" dirty="0">
                <a:solidFill>
                  <a:srgbClr val="182E43"/>
                </a:solidFill>
                <a:latin typeface="Noto Sans CJK KR"/>
                <a:ea typeface="Noto Sans CJK KR"/>
                <a:cs typeface="Noto Sans CJK KR"/>
              </a:rPr>
              <a:t>~</a:t>
            </a:r>
            <a:r>
              <a:rPr lang="en-US" sz="2250" b="1" dirty="0">
                <a:solidFill>
                  <a:srgbClr val="182E43"/>
                </a:solidFill>
                <a:latin typeface="Noto Sans CJK KR"/>
                <a:ea typeface="Noto Sans CJK KR"/>
                <a:cs typeface="Noto Sans CJK KR"/>
              </a:rPr>
              <a:t>3</a:t>
            </a:r>
            <a:r>
              <a:rPr sz="2250" b="1" dirty="0">
                <a:solidFill>
                  <a:srgbClr val="182E43"/>
                </a:solidFill>
                <a:latin typeface="Noto Sans CJK KR"/>
                <a:ea typeface="Noto Sans CJK KR"/>
                <a:cs typeface="Noto Sans CJK KR"/>
              </a:rPr>
              <a:t>개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F6D9935C-D614-417E-A7DD-A7530E13AF54}"/>
              </a:ext>
            </a:extLst>
          </p:cNvPr>
          <p:cNvSpPr>
            <a:spLocks noGrp="1"/>
          </p:cNvSpPr>
          <p:nvPr/>
        </p:nvSpPr>
        <p:spPr>
          <a:xfrm>
            <a:off x="723900" y="6724650"/>
            <a:ext cx="6524625" cy="933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100"/>
              </a:spcAft>
              <a:defRPr sz="2175" b="0">
                <a:solidFill>
                  <a:srgbClr val="182E43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150" b="0" dirty="0">
                <a:solidFill>
                  <a:srgbClr val="182E43"/>
                </a:solidFill>
                <a:latin typeface="Noto Sans CJK KR"/>
                <a:ea typeface="Noto Sans CJK KR"/>
                <a:cs typeface="Noto Sans CJK KR"/>
              </a:rPr>
              <a:t>RQ1 ·  해시 체인으로 봉인한 과정 기록은, 타임랩스 · 초안 제출보다</a:t>
            </a:r>
            <a:endParaRPr sz="2175" b="0" dirty="0">
              <a:solidFill>
                <a:srgbClr val="182E43"/>
              </a:solidFill>
              <a:latin typeface="Noto Sans CJK KR"/>
              <a:ea typeface="Noto Sans CJK KR"/>
              <a:cs typeface="Noto Sans CJK KR"/>
            </a:endParaRPr>
          </a:p>
          <a:p>
            <a:pPr>
              <a:spcAft>
                <a:spcPts val="1000"/>
              </a:spcAft>
            </a:pPr>
            <a:r>
              <a:rPr sz="1150" b="0" dirty="0">
                <a:solidFill>
                  <a:srgbClr val="182E43"/>
                </a:solidFill>
                <a:latin typeface="Noto Sans CJK KR"/>
                <a:ea typeface="Noto Sans CJK KR"/>
                <a:cs typeface="Noto Sans CJK KR"/>
              </a:rPr>
              <a:t>          검증자가 제작 과정을 더 신뢰하게 만드는가?</a:t>
            </a:r>
          </a:p>
          <a:p>
            <a:pPr>
              <a:spcAft>
                <a:spcPts val="100"/>
              </a:spcAft>
            </a:pPr>
            <a:r>
              <a:rPr sz="1150" b="0" dirty="0">
                <a:solidFill>
                  <a:srgbClr val="182E43"/>
                </a:solidFill>
                <a:latin typeface="Noto Sans CJK KR"/>
                <a:ea typeface="Noto Sans CJK KR"/>
                <a:cs typeface="Noto Sans CJK KR"/>
              </a:rPr>
              <a:t>RQ2 ·  앱 전환 · 클립보드 · 파일 변화만으로, 외부에서 들어온 분량과</a:t>
            </a:r>
          </a:p>
          <a:p>
            <a:pPr>
              <a:spcAft>
                <a:spcPts val="1000"/>
              </a:spcAft>
            </a:pPr>
            <a:r>
              <a:rPr sz="1150" b="0" dirty="0">
                <a:solidFill>
                  <a:srgbClr val="182E43"/>
                </a:solidFill>
                <a:latin typeface="Noto Sans CJK KR"/>
                <a:ea typeface="Noto Sans CJK KR"/>
                <a:cs typeface="Noto Sans CJK KR"/>
              </a:rPr>
              <a:t>          시점을 앱 종류와 무관하게 식별할 수 있는가?</a:t>
            </a:r>
          </a:p>
          <a:p>
            <a:pPr>
              <a:spcAft>
                <a:spcPts val="100"/>
              </a:spcAft>
            </a:pPr>
            <a:r>
              <a:rPr sz="1150" b="0" dirty="0">
                <a:solidFill>
                  <a:srgbClr val="182E43"/>
                </a:solidFill>
                <a:latin typeface="Noto Sans CJK KR"/>
                <a:ea typeface="Noto Sans CJK KR"/>
                <a:cs typeface="Noto Sans CJK KR"/>
              </a:rPr>
              <a:t>RQ3 ·  ‘AI 이후의 편집량’ 을 함께 보여주면, 교수가 과제의 학습 과정을</a:t>
            </a:r>
          </a:p>
          <a:p>
            <a:pPr>
              <a:spcAft>
                <a:spcPts val="100"/>
              </a:spcAft>
            </a:pPr>
            <a:r>
              <a:rPr sz="1150" b="0" dirty="0">
                <a:solidFill>
                  <a:srgbClr val="182E43"/>
                </a:solidFill>
                <a:latin typeface="Noto Sans CJK KR"/>
                <a:ea typeface="Noto Sans CJK KR"/>
                <a:cs typeface="Noto Sans CJK KR"/>
              </a:rPr>
              <a:t>          결과물만 볼 때보다 더 정확히 판단하는가?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D64F55C3-0B42-4217-A08C-6DFA5221BD9D}"/>
              </a:ext>
            </a:extLst>
          </p:cNvPr>
          <p:cNvSpPr>
            <a:spLocks noGrp="1"/>
          </p:cNvSpPr>
          <p:nvPr/>
        </p:nvSpPr>
        <p:spPr>
          <a:xfrm>
            <a:off x="8001000" y="6172200"/>
            <a:ext cx="647700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250" b="1">
                <a:solidFill>
                  <a:srgbClr val="182E43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2250" b="1">
                <a:solidFill>
                  <a:srgbClr val="182E43"/>
                </a:solidFill>
                <a:latin typeface="Noto Sans CJK KR"/>
                <a:ea typeface="Noto Sans CJK KR"/>
                <a:cs typeface="Noto Sans CJK KR"/>
              </a:rPr>
              <a:t>질문마다 검증 지표와 방법 제시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945FB11C-2CE4-495D-8D6E-2FCC9ED371D2}"/>
              </a:ext>
            </a:extLst>
          </p:cNvPr>
          <p:cNvSpPr>
            <a:spLocks noGrp="1"/>
          </p:cNvSpPr>
          <p:nvPr/>
        </p:nvSpPr>
        <p:spPr>
          <a:xfrm>
            <a:off x="8001000" y="6724650"/>
            <a:ext cx="6477000" cy="1066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100"/>
              </a:spcAft>
              <a:defRPr sz="1800" b="0">
                <a:solidFill>
                  <a:srgbClr val="182E43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000" b="0" dirty="0" err="1">
                <a:solidFill>
                  <a:srgbClr val="182E43"/>
                </a:solidFill>
                <a:latin typeface="Noto Sans CJK KR"/>
                <a:ea typeface="Noto Sans CJK KR"/>
                <a:cs typeface="Noto Sans CJK KR"/>
              </a:rPr>
              <a:t>RQ1  지표 — 검증자가 ‘믿을 수 있다’고 답한 비율 · 결론까지 걸린 시간</a:t>
            </a:r>
            <a:endParaRPr sz="1800" b="0" dirty="0">
              <a:solidFill>
                <a:srgbClr val="FF0000"/>
              </a:solidFill>
              <a:latin typeface="Noto Sans CJK KR"/>
              <a:ea typeface="Noto Sans CJK KR"/>
              <a:cs typeface="Noto Sans CJK KR"/>
            </a:endParaRPr>
          </a:p>
          <a:p>
            <a:pPr>
              <a:spcAft>
                <a:spcPts val="1000"/>
              </a:spcAft>
            </a:pPr>
            <a:r>
              <a:rPr sz="1000" b="0" dirty="0" err="1">
                <a:solidFill>
                  <a:srgbClr val="182E43"/>
                </a:solidFill>
                <a:latin typeface="Noto Sans CJK KR"/>
                <a:ea typeface="Noto Sans CJK KR"/>
                <a:cs typeface="Noto Sans CJK KR"/>
              </a:rPr>
              <a:t>          방법 — 같은 결과물을 타임랩스본 / 증명서본으로 나눠 제3자 10명에게 제시·비교</a:t>
            </a:r>
          </a:p>
          <a:p>
            <a:pPr>
              <a:spcAft>
                <a:spcPts val="100"/>
              </a:spcAft>
            </a:pPr>
            <a:r>
              <a:rPr sz="1000" b="0" dirty="0" err="1">
                <a:solidFill>
                  <a:srgbClr val="182E43"/>
                </a:solidFill>
                <a:latin typeface="Noto Sans CJK KR"/>
                <a:ea typeface="Noto Sans CJK KR"/>
                <a:cs typeface="Noto Sans CJK KR"/>
              </a:rPr>
              <a:t>RQ2  지표 — 외부 유입 구간 식별 재현율 · 오탐률</a:t>
            </a:r>
          </a:p>
          <a:p>
            <a:pPr>
              <a:spcAft>
                <a:spcPts val="1000"/>
              </a:spcAft>
            </a:pPr>
            <a:r>
              <a:rPr sz="1000" b="0" dirty="0" err="1">
                <a:solidFill>
                  <a:srgbClr val="182E43"/>
                </a:solidFill>
                <a:latin typeface="Noto Sans CJK KR"/>
                <a:ea typeface="Noto Sans CJK KR"/>
                <a:cs typeface="Noto Sans CJK KR"/>
              </a:rPr>
              <a:t>          방법 — Word · PPT · Photoshop · VSCode 에서 붙여넣기 시나리오 각 20회 실행</a:t>
            </a:r>
          </a:p>
          <a:p>
            <a:pPr>
              <a:spcAft>
                <a:spcPts val="100"/>
              </a:spcAft>
            </a:pPr>
            <a:r>
              <a:rPr sz="1000" b="0" dirty="0" err="1">
                <a:solidFill>
                  <a:srgbClr val="182E43"/>
                </a:solidFill>
                <a:latin typeface="Noto Sans CJK KR"/>
                <a:ea typeface="Noto Sans CJK KR"/>
                <a:cs typeface="Noto Sans CJK KR"/>
              </a:rPr>
              <a:t>RQ3  지표 — 교수의 판단과 실제 작성 방식의 일치율</a:t>
            </a:r>
          </a:p>
          <a:p>
            <a:pPr>
              <a:spcAft>
                <a:spcPts val="100"/>
              </a:spcAft>
            </a:pPr>
            <a:r>
              <a:rPr sz="1000" b="0" dirty="0" err="1">
                <a:solidFill>
                  <a:srgbClr val="182E43"/>
                </a:solidFill>
                <a:latin typeface="Noto Sans CJK KR"/>
                <a:ea typeface="Noto Sans CJK KR"/>
                <a:cs typeface="Noto Sans CJK KR"/>
              </a:rPr>
              <a:t>          방법 — 과정 기록 있음 / 없음 두 조건으로 과제 20건 평가 비교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C897DF19-611A-41D1-A983-DC38AF8C0AED}"/>
              </a:ext>
            </a:extLst>
          </p:cNvPr>
          <p:cNvSpPr>
            <a:spLocks noGrp="1"/>
          </p:cNvSpPr>
          <p:nvPr/>
        </p:nvSpPr>
        <p:spPr>
          <a:xfrm>
            <a:off x="723900" y="8183879"/>
            <a:ext cx="118110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100"/>
              </a:spcAft>
              <a:defRPr sz="1500" b="0">
                <a:solidFill>
                  <a:srgbClr val="516274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950" b="0">
                <a:solidFill>
                  <a:srgbClr val="516274"/>
                </a:solidFill>
                <a:latin typeface="Noto Sans CJK KR"/>
                <a:ea typeface="Noto Sans CJK KR"/>
                <a:cs typeface="Noto Sans CJK KR"/>
              </a:rPr>
              <a:t>출처: Grammarly Authorship (grammarly.com/authorship) · Turnitin Clarity · Procreate 타임랩스 — 각 제품의 공개 문서 기준.</a:t>
            </a:r>
          </a:p>
          <a:p>
            <a:pPr>
              <a:spcAft>
                <a:spcPts val="100"/>
              </a:spcAft>
            </a:pPr>
            <a:r>
              <a:rPr sz="950" b="0">
                <a:solidFill>
                  <a:srgbClr val="516274"/>
                </a:solidFill>
                <a:latin typeface="Noto Sans CJK KR"/>
                <a:ea typeface="Noto Sans CJK KR"/>
                <a:cs typeface="Noto Sans CJK KR"/>
              </a:rPr>
              <a:t>‘기록 위조 방지가 없다’ 는 공개 문서에 서명 · 재검증 기능이 없다는 점에 근거한 팀의 판단이며, 별도 실험으로 확인한 사실은 아님.</a:t>
            </a:r>
          </a:p>
        </p:txBody>
      </p:sp>
    </p:spTree>
    <p:extLst>
      <p:ext uri="{BB962C8B-B14F-4D97-AF65-F5344CB8AC3E}">
        <p14:creationId xmlns:p14="http://schemas.microsoft.com/office/powerpoint/2010/main" val="7130493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직사각형 24">
            <a:extLst>
              <a:ext uri="{FF2B5EF4-FFF2-40B4-BE49-F238E27FC236}">
                <a16:creationId xmlns:a16="http://schemas.microsoft.com/office/drawing/2014/main" id="{C372B437-ABCF-4F4E-A42D-E49930ED2D9E}"/>
              </a:ext>
            </a:extLst>
          </p:cNvPr>
          <p:cNvSpPr>
            <a:spLocks noGrp="1"/>
          </p:cNvSpPr>
          <p:nvPr/>
        </p:nvSpPr>
        <p:spPr>
          <a:xfrm>
            <a:off x="723900" y="333375"/>
            <a:ext cx="1238250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  <a:defRPr sz="1575" b="1">
                <a:solidFill>
                  <a:srgbClr val="007E87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575" b="1" dirty="0" err="1">
                <a:solidFill>
                  <a:srgbClr val="007E87"/>
                </a:solidFill>
                <a:latin typeface="Noto Sans CJK KR"/>
                <a:ea typeface="Noto Sans CJK KR"/>
                <a:cs typeface="Noto Sans CJK KR"/>
              </a:rPr>
              <a:t>창의프로젝트   서비스 계획 수립:  김용현 · [팀원 이름]</a:t>
            </a:r>
            <a:endParaRPr sz="1575" b="1" dirty="0">
              <a:solidFill>
                <a:srgbClr val="007E87"/>
              </a:solidFill>
              <a:latin typeface="Noto Sans CJK KR"/>
              <a:ea typeface="Noto Sans CJK KR"/>
              <a:cs typeface="Noto Sans CJK KR"/>
            </a:endParaRP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F770C61-418E-4936-A618-EEA2EF3A9311}"/>
              </a:ext>
            </a:extLst>
          </p:cNvPr>
          <p:cNvSpPr>
            <a:spLocks noGrp="1"/>
          </p:cNvSpPr>
          <p:nvPr/>
        </p:nvSpPr>
        <p:spPr>
          <a:xfrm>
            <a:off x="723900" y="838200"/>
            <a:ext cx="13716000" cy="666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3600" b="1">
                <a:solidFill>
                  <a:srgbClr val="182E43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3600" b="1">
                <a:solidFill>
                  <a:srgbClr val="182E43"/>
                </a:solidFill>
                <a:latin typeface="Noto Sans CJK KR"/>
                <a:ea typeface="Noto Sans CJK KR"/>
                <a:cs typeface="Noto Sans CJK KR"/>
              </a:rPr>
              <a:t>제안 서비스, 아키텍처와 핵심 기술 테스트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3EBC283C-A923-4957-906E-578707D2D97D}"/>
              </a:ext>
            </a:extLst>
          </p:cNvPr>
          <p:cNvSpPr>
            <a:spLocks noGrp="1"/>
          </p:cNvSpPr>
          <p:nvPr/>
        </p:nvSpPr>
        <p:spPr>
          <a:xfrm>
            <a:off x="723900" y="1581150"/>
            <a:ext cx="137160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025" b="0">
                <a:solidFill>
                  <a:srgbClr val="516274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2025" b="0">
                <a:solidFill>
                  <a:srgbClr val="516274"/>
                </a:solidFill>
                <a:latin typeface="Noto Sans CJK KR"/>
                <a:ea typeface="Noto Sans CJK KR"/>
                <a:cs typeface="Noto Sans CJK KR"/>
              </a:rPr>
              <a:t>무엇을 만들 것인가? 핵심 기능은 어떻게 작동하며, 지금 어느 부분까지 구현 가능한가?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FE3A51BB-EB1A-4D6D-86AA-F45B0CED67E4}"/>
              </a:ext>
            </a:extLst>
          </p:cNvPr>
          <p:cNvSpPr>
            <a:spLocks noGrp="1"/>
          </p:cNvSpPr>
          <p:nvPr/>
        </p:nvSpPr>
        <p:spPr>
          <a:xfrm>
            <a:off x="13335000" y="8058150"/>
            <a:ext cx="11430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defRPr sz="1500" b="0">
                <a:solidFill>
                  <a:srgbClr val="516274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500" b="0">
                <a:solidFill>
                  <a:srgbClr val="516274"/>
                </a:solidFill>
                <a:latin typeface="Noto Sans CJK KR"/>
                <a:ea typeface="Noto Sans CJK KR"/>
                <a:cs typeface="Noto Sans CJK KR"/>
              </a:rPr>
              <a:t>03 / 03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25E551F5-0399-4D62-8C81-4CD3C1C22EEE}"/>
              </a:ext>
            </a:extLst>
          </p:cNvPr>
          <p:cNvSpPr>
            <a:spLocks noGrp="1"/>
          </p:cNvSpPr>
          <p:nvPr/>
        </p:nvSpPr>
        <p:spPr>
          <a:xfrm>
            <a:off x="723900" y="2238375"/>
            <a:ext cx="180975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025" b="1">
                <a:solidFill>
                  <a:srgbClr val="007E87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2025" b="1">
                <a:solidFill>
                  <a:srgbClr val="007E87"/>
                </a:solidFill>
                <a:latin typeface="Noto Sans CJK KR"/>
                <a:ea typeface="Noto Sans CJK KR"/>
                <a:cs typeface="Noto Sans CJK KR"/>
              </a:rPr>
              <a:t>제작 형태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7A1B3F92-233B-429C-B99B-918B2C4555C0}"/>
              </a:ext>
            </a:extLst>
          </p:cNvPr>
          <p:cNvSpPr>
            <a:spLocks noGrp="1"/>
          </p:cNvSpPr>
          <p:nvPr/>
        </p:nvSpPr>
        <p:spPr>
          <a:xfrm>
            <a:off x="2724150" y="2238375"/>
            <a:ext cx="1171575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  <a:defRPr sz="2025" b="0">
                <a:solidFill>
                  <a:srgbClr val="182E43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600" b="0">
                <a:solidFill>
                  <a:srgbClr val="182E43"/>
                </a:solidFill>
                <a:latin typeface="Noto Sans CJK KR"/>
                <a:ea typeface="Noto Sans CJK KR"/>
                <a:cs typeface="Noto Sans CJK KR"/>
              </a:rPr>
              <a:t>PC 애플리케이션(상주 수집기) + 웹 서비스(검증 화면)   ·   이번 학기 프로토타입은 웹부터 구현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8F6FFAF4-E0FD-4BDB-9671-7B229DAA564D}"/>
              </a:ext>
            </a:extLst>
          </p:cNvPr>
          <p:cNvSpPr>
            <a:spLocks noGrp="1"/>
          </p:cNvSpPr>
          <p:nvPr/>
        </p:nvSpPr>
        <p:spPr>
          <a:xfrm>
            <a:off x="723900" y="2705100"/>
            <a:ext cx="180975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025" b="1">
                <a:solidFill>
                  <a:srgbClr val="007E87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2025" b="1">
                <a:solidFill>
                  <a:srgbClr val="007E87"/>
                </a:solidFill>
                <a:latin typeface="Noto Sans CJK KR"/>
                <a:ea typeface="Noto Sans CJK KR"/>
                <a:cs typeface="Noto Sans CJK KR"/>
              </a:rPr>
              <a:t>서비스 개념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C59F3B60-A684-42C8-9AF8-E503F4C766E4}"/>
              </a:ext>
            </a:extLst>
          </p:cNvPr>
          <p:cNvSpPr>
            <a:spLocks noGrp="1"/>
          </p:cNvSpPr>
          <p:nvPr/>
        </p:nvSpPr>
        <p:spPr>
          <a:xfrm>
            <a:off x="2724150" y="2705100"/>
            <a:ext cx="1171575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  <a:defRPr sz="2025" b="0">
                <a:solidFill>
                  <a:srgbClr val="182E43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350" b="0">
                <a:solidFill>
                  <a:srgbClr val="182E43"/>
                </a:solidFill>
                <a:latin typeface="Noto Sans CJK KR"/>
                <a:ea typeface="Noto Sans CJK KR"/>
                <a:cs typeface="Noto Sans CJK KR"/>
              </a:rPr>
              <a:t>컴퓨터로 결과물을 만드는 사람에게, 쓰던 도구를 바꾸지 않고 제작 과정을 남겨 “이 기록은 만든 뒤 고쳐지지 않았다”를 제3자에게 보인다.</a:t>
            </a:r>
          </a:p>
          <a:p>
            <a:pPr>
              <a:spcAft>
                <a:spcPts val="200"/>
              </a:spcAft>
            </a:pPr>
            <a:r>
              <a:rPr sz="1350" b="0">
                <a:solidFill>
                  <a:srgbClr val="182E43"/>
                </a:solidFill>
                <a:latin typeface="Noto Sans CJK KR"/>
                <a:ea typeface="Noto Sans CJK KR"/>
                <a:cs typeface="Noto Sans CJK KR"/>
              </a:rPr>
              <a:t>핵심 기능  ① 도구를 가리지 않는 과정 수집 (RQ2)   ② 해시 체인 봉인과 재검증 (RQ1)   ③ 외부 유입 이후의 편집량 표시 (RQ3)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8A2156AC-A4C2-402F-9549-7AE16335ABDA}"/>
              </a:ext>
            </a:extLst>
          </p:cNvPr>
          <p:cNvSpPr>
            <a:spLocks noGrp="1"/>
          </p:cNvSpPr>
          <p:nvPr/>
        </p:nvSpPr>
        <p:spPr>
          <a:xfrm>
            <a:off x="723900" y="3419475"/>
            <a:ext cx="7429500" cy="3905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250" b="1">
                <a:solidFill>
                  <a:srgbClr val="182E43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2250" b="1">
                <a:solidFill>
                  <a:srgbClr val="182E43"/>
                </a:solidFill>
                <a:latin typeface="Noto Sans CJK KR"/>
                <a:ea typeface="Noto Sans CJK KR"/>
                <a:cs typeface="Noto Sans CJK KR"/>
              </a:rPr>
              <a:t>시스템·서비스 아키텍처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EB21649D-8CA6-48CD-9207-5A87121155C8}"/>
              </a:ext>
            </a:extLst>
          </p:cNvPr>
          <p:cNvSpPr>
            <a:spLocks noGrp="1"/>
          </p:cNvSpPr>
          <p:nvPr/>
        </p:nvSpPr>
        <p:spPr>
          <a:xfrm>
            <a:off x="723900" y="3905250"/>
            <a:ext cx="1352550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100"/>
              </a:spcAft>
              <a:defRPr sz="1725" b="0">
                <a:solidFill>
                  <a:srgbClr val="516274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250" b="0">
                <a:solidFill>
                  <a:srgbClr val="516274"/>
                </a:solidFill>
                <a:latin typeface="Noto Sans CJK KR"/>
                <a:ea typeface="Noto Sans CJK KR"/>
                <a:cs typeface="Noto Sans CJK KR"/>
              </a:rPr>
              <a:t>창작자는 쓰던 도구에서 그대로 작업하고, 수집기는 앱 · 파일 · 클립보드의 변화만 관측해 해시로 바꿔 서버에 보낸다.</a:t>
            </a:r>
          </a:p>
          <a:p>
            <a:pPr>
              <a:spcAft>
                <a:spcPts val="100"/>
              </a:spcAft>
            </a:pPr>
            <a:r>
              <a:rPr sz="1250" b="0">
                <a:solidFill>
                  <a:srgbClr val="516274"/>
                </a:solidFill>
                <a:latin typeface="Noto Sans CJK KR"/>
                <a:ea typeface="Noto Sans CJK KR"/>
                <a:cs typeface="Noto Sans CJK KR"/>
              </a:rPr>
              <a:t>내용 자체는 전송하지 않는다. 검증자는 공유 링크로 들어와, 저장된 재료로 다시 계산한 값과 파일에 적힌 값을 비교한다.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F85413C3-DBEC-43F7-A39F-BF8EC3988C65}"/>
              </a:ext>
            </a:extLst>
          </p:cNvPr>
          <p:cNvSpPr>
            <a:spLocks noGrp="1"/>
          </p:cNvSpPr>
          <p:nvPr/>
        </p:nvSpPr>
        <p:spPr>
          <a:xfrm>
            <a:off x="723900" y="4572000"/>
            <a:ext cx="2286000" cy="828675"/>
          </a:xfrm>
          <a:prstGeom prst="rect">
            <a:avLst/>
          </a:prstGeom>
          <a:solidFill>
            <a:srgbClr val="F1F6F7"/>
          </a:solidFill>
          <a:ln w="15240">
            <a:solidFill>
              <a:srgbClr val="007E87"/>
            </a:solidFill>
          </a:ln>
        </p:spPr>
        <p:txBody>
          <a:bodyPr lIns="95250" tIns="95250" rIns="95250" bIns="95250" anchor="ctr" wrap="square">
            <a:noAutofit/>
          </a:bodyPr>
          <a:lstStyle/>
          <a:p>
            <a:pPr algn="ctr">
              <a:spcAft>
                <a:spcPts val="100"/>
              </a:spcAft>
              <a:defRPr sz="1800" b="0">
                <a:solidFill>
                  <a:srgbClr val="182E43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350" b="0">
                <a:solidFill>
                  <a:srgbClr val="182E43"/>
                </a:solidFill>
                <a:latin typeface="Noto Sans CJK KR"/>
                <a:ea typeface="Noto Sans CJK KR"/>
                <a:cs typeface="Noto Sans CJK KR"/>
              </a:rPr>
              <a:t>창작자</a:t>
            </a:r>
          </a:p>
          <a:p>
            <a:pPr>
              <a:spcAft>
                <a:spcPts val="100"/>
              </a:spcAft>
            </a:pPr>
            <a:r>
              <a:rPr sz="1350" b="0">
                <a:solidFill>
                  <a:srgbClr val="182E43"/>
                </a:solidFill>
                <a:latin typeface="Noto Sans CJK KR"/>
                <a:ea typeface="Noto Sans CJK KR"/>
                <a:cs typeface="Noto Sans CJK KR"/>
              </a:rPr>
              <a:t>쓰던 도구에서 작업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C2896DF8-D7B9-42DA-8022-7CE3A501652F}"/>
              </a:ext>
            </a:extLst>
          </p:cNvPr>
          <p:cNvSpPr>
            <a:spLocks noGrp="1"/>
          </p:cNvSpPr>
          <p:nvPr/>
        </p:nvSpPr>
        <p:spPr>
          <a:xfrm>
            <a:off x="3905250" y="4572000"/>
            <a:ext cx="2857500" cy="828675"/>
          </a:xfrm>
          <a:prstGeom prst="rect">
            <a:avLst/>
          </a:prstGeom>
          <a:solidFill>
            <a:srgbClr val="F1F6F7"/>
          </a:solidFill>
          <a:ln w="15240">
            <a:solidFill>
              <a:srgbClr val="007E87"/>
            </a:solidFill>
          </a:ln>
        </p:spPr>
        <p:txBody>
          <a:bodyPr lIns="95250" tIns="95250" rIns="95250" bIns="95250" anchor="ctr" wrap="square">
            <a:noAutofit/>
          </a:bodyPr>
          <a:lstStyle/>
          <a:p>
            <a:pPr algn="ctr">
              <a:spcAft>
                <a:spcPts val="100"/>
              </a:spcAft>
              <a:defRPr sz="1800" b="0">
                <a:solidFill>
                  <a:srgbClr val="182E43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350" b="0">
                <a:solidFill>
                  <a:srgbClr val="182E43"/>
                </a:solidFill>
                <a:latin typeface="Noto Sans CJK KR"/>
                <a:ea typeface="Noto Sans CJK KR"/>
                <a:cs typeface="Noto Sans CJK KR"/>
              </a:rPr>
              <a:t>수집기 (PC 상주)</a:t>
            </a:r>
          </a:p>
          <a:p>
            <a:pPr>
              <a:spcAft>
                <a:spcPts val="100"/>
              </a:spcAft>
            </a:pPr>
            <a:r>
              <a:rPr sz="1350" b="0">
                <a:solidFill>
                  <a:srgbClr val="182E43"/>
                </a:solidFill>
                <a:latin typeface="Noto Sans CJK KR"/>
                <a:ea typeface="Noto Sans CJK KR"/>
                <a:cs typeface="Noto Sans CJK KR"/>
              </a:rPr>
              <a:t>앱 · 파일 · 클립보드 관측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88448C69-C9F0-470E-BF33-A33348395D2D}"/>
              </a:ext>
            </a:extLst>
          </p:cNvPr>
          <p:cNvSpPr>
            <a:spLocks noGrp="1"/>
          </p:cNvSpPr>
          <p:nvPr/>
        </p:nvSpPr>
        <p:spPr>
          <a:xfrm>
            <a:off x="7667625" y="4572000"/>
            <a:ext cx="2857500" cy="828675"/>
          </a:xfrm>
          <a:prstGeom prst="rect">
            <a:avLst/>
          </a:prstGeom>
          <a:solidFill>
            <a:srgbClr val="F1F6F7"/>
          </a:solidFill>
          <a:ln w="15240">
            <a:solidFill>
              <a:srgbClr val="007E87"/>
            </a:solidFill>
          </a:ln>
        </p:spPr>
        <p:txBody>
          <a:bodyPr lIns="95250" tIns="95250" rIns="95250" bIns="95250" anchor="ctr" wrap="square">
            <a:noAutofit/>
          </a:bodyPr>
          <a:lstStyle/>
          <a:p>
            <a:pPr algn="ctr">
              <a:spcAft>
                <a:spcPts val="100"/>
              </a:spcAft>
              <a:defRPr sz="1800" b="0">
                <a:solidFill>
                  <a:srgbClr val="182E43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350" b="0">
                <a:solidFill>
                  <a:srgbClr val="182E43"/>
                </a:solidFill>
                <a:latin typeface="Noto Sans CJK KR"/>
                <a:ea typeface="Noto Sans CJK KR"/>
                <a:cs typeface="Noto Sans CJK KR"/>
              </a:rPr>
              <a:t>검증 서버 (Flask)</a:t>
            </a:r>
          </a:p>
          <a:p>
            <a:pPr>
              <a:spcAft>
                <a:spcPts val="100"/>
              </a:spcAft>
            </a:pPr>
            <a:r>
              <a:rPr sz="1350" b="0">
                <a:solidFill>
                  <a:srgbClr val="182E43"/>
                </a:solidFill>
                <a:latin typeface="Noto Sans CJK KR"/>
                <a:ea typeface="Noto Sans CJK KR"/>
                <a:cs typeface="Noto Sans CJK KR"/>
              </a:rPr>
              <a:t>해시 체인 계산 · 재검증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99C5C5BC-79FB-4DA3-AC23-7E85F05AE70D}"/>
              </a:ext>
            </a:extLst>
          </p:cNvPr>
          <p:cNvSpPr>
            <a:spLocks noGrp="1"/>
          </p:cNvSpPr>
          <p:nvPr/>
        </p:nvSpPr>
        <p:spPr>
          <a:xfrm>
            <a:off x="11525250" y="4286250"/>
            <a:ext cx="2952750" cy="714375"/>
          </a:xfrm>
          <a:prstGeom prst="rect">
            <a:avLst/>
          </a:prstGeom>
          <a:solidFill>
            <a:srgbClr val="F1F6F7"/>
          </a:solidFill>
          <a:ln w="15240">
            <a:solidFill>
              <a:srgbClr val="007E87"/>
            </a:solidFill>
          </a:ln>
        </p:spPr>
        <p:txBody>
          <a:bodyPr lIns="95250" tIns="95250" rIns="95250" bIns="95250" anchor="ctr" wrap="square">
            <a:noAutofit/>
          </a:bodyPr>
          <a:lstStyle/>
          <a:p>
            <a:pPr algn="ctr">
              <a:spcAft>
                <a:spcPts val="100"/>
              </a:spcAft>
              <a:defRPr sz="1800" b="0">
                <a:solidFill>
                  <a:srgbClr val="182E43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350" b="0">
                <a:solidFill>
                  <a:srgbClr val="182E43"/>
                </a:solidFill>
                <a:latin typeface="Noto Sans CJK KR"/>
                <a:ea typeface="Noto Sans CJK KR"/>
                <a:cs typeface="Noto Sans CJK KR"/>
              </a:rPr>
              <a:t>외부 앵커</a:t>
            </a:r>
          </a:p>
          <a:p>
            <a:pPr>
              <a:spcAft>
                <a:spcPts val="100"/>
              </a:spcAft>
            </a:pPr>
            <a:r>
              <a:rPr sz="1350" b="0">
                <a:solidFill>
                  <a:srgbClr val="182E43"/>
                </a:solidFill>
                <a:latin typeface="Noto Sans CJK KR"/>
                <a:ea typeface="Noto Sans CJK KR"/>
                <a:cs typeface="Noto Sans CJK KR"/>
              </a:rPr>
              <a:t>작품 루트 해시 고정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D64C0F69-BF40-43DF-B85B-42535962F67C}"/>
              </a:ext>
            </a:extLst>
          </p:cNvPr>
          <p:cNvSpPr>
            <a:spLocks noGrp="1"/>
          </p:cNvSpPr>
          <p:nvPr/>
        </p:nvSpPr>
        <p:spPr>
          <a:xfrm>
            <a:off x="11525250" y="5238750"/>
            <a:ext cx="2952750" cy="714375"/>
          </a:xfrm>
          <a:prstGeom prst="rect">
            <a:avLst/>
          </a:prstGeom>
          <a:solidFill>
            <a:srgbClr val="F1F6F7"/>
          </a:solidFill>
          <a:ln w="15240">
            <a:solidFill>
              <a:srgbClr val="007E87"/>
            </a:solidFill>
          </a:ln>
        </p:spPr>
        <p:txBody>
          <a:bodyPr lIns="95250" tIns="95250" rIns="95250" bIns="95250" anchor="ctr" wrap="square">
            <a:noAutofit/>
          </a:bodyPr>
          <a:lstStyle/>
          <a:p>
            <a:pPr algn="ctr">
              <a:spcAft>
                <a:spcPts val="100"/>
              </a:spcAft>
              <a:defRPr sz="1800" b="0">
                <a:solidFill>
                  <a:srgbClr val="182E43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350" b="0">
                <a:solidFill>
                  <a:srgbClr val="182E43"/>
                </a:solidFill>
                <a:latin typeface="Noto Sans CJK KR"/>
                <a:ea typeface="Noto Sans CJK KR"/>
                <a:cs typeface="Noto Sans CJK KR"/>
              </a:rPr>
              <a:t>chain.json</a:t>
            </a:r>
          </a:p>
          <a:p>
            <a:pPr>
              <a:spcAft>
                <a:spcPts val="100"/>
              </a:spcAft>
            </a:pPr>
            <a:r>
              <a:rPr sz="1350" b="0">
                <a:solidFill>
                  <a:srgbClr val="182E43"/>
                </a:solidFill>
                <a:latin typeface="Noto Sans CJK KR"/>
                <a:ea typeface="Noto Sans CJK KR"/>
                <a:cs typeface="Noto Sans CJK KR"/>
              </a:rPr>
              <a:t>해시 · 이벤트만 저장</a:t>
            </a:r>
          </a:p>
        </p:txBody>
      </p:sp>
      <p:cxnSp>
        <p:nvCxnSpPr>
          <p:cNvPr id="40" name="직선 화살표 연결선 39"/>
          <p:cNvCxnSpPr>
            <a:stCxn id="11" idx="3"/>
            <a:endCxn id="12" idx="1"/>
          </p:cNvCxnSpPr>
          <p:nvPr/>
        </p:nvCxnSpPr>
        <p:spPr>
          <a:xfrm>
            <a:off x="3009900" y="4986338"/>
            <a:ext cx="895350" cy="0"/>
          </a:xfrm>
          <a:prstGeom prst="straightConnector1">
            <a:avLst/>
          </a:prstGeom>
          <a:ln w="19050">
            <a:solidFill>
              <a:srgbClr val="007E87"/>
            </a:solidFill>
            <a:headEnd type="arrow" w="med" len="med"/>
            <a:tailEnd type="arrow" w="med" len="med"/>
          </a:ln>
        </p:spPr>
      </p:cxnSp>
      <p:cxnSp>
        <p:nvCxnSpPr>
          <p:cNvPr id="41" name="직선 화살표 연결선 40"/>
          <p:cNvCxnSpPr>
            <a:stCxn id="12" idx="3"/>
            <a:endCxn id="13" idx="1"/>
          </p:cNvCxnSpPr>
          <p:nvPr/>
        </p:nvCxnSpPr>
        <p:spPr>
          <a:xfrm>
            <a:off x="6762750" y="4986338"/>
            <a:ext cx="904875" cy="0"/>
          </a:xfrm>
          <a:prstGeom prst="straightConnector1">
            <a:avLst/>
          </a:prstGeom>
          <a:ln w="19050">
            <a:solidFill>
              <a:srgbClr val="007E87"/>
            </a:solidFill>
            <a:headEnd type="arrow" w="med" len="med"/>
            <a:tailEnd type="arrow" w="med" len="med"/>
          </a:ln>
        </p:spPr>
      </p:cxnSp>
      <p:cxnSp>
        <p:nvCxnSpPr>
          <p:cNvPr id="42" name="직선 화살표 연결선 41"/>
          <p:cNvCxnSpPr>
            <a:stCxn id="13" idx="3"/>
            <a:endCxn id="14" idx="1"/>
          </p:cNvCxnSpPr>
          <p:nvPr/>
        </p:nvCxnSpPr>
        <p:spPr>
          <a:xfrm flipV="1">
            <a:off x="10525125" y="4643438"/>
            <a:ext cx="1000125" cy="342900"/>
          </a:xfrm>
          <a:prstGeom prst="straightConnector1">
            <a:avLst/>
          </a:prstGeom>
          <a:ln w="19050">
            <a:solidFill>
              <a:srgbClr val="007E87"/>
            </a:solidFill>
            <a:headEnd type="arrow" w="med" len="med"/>
            <a:tailEnd type="arrow" w="med" len="med"/>
          </a:ln>
        </p:spPr>
      </p:cxnSp>
      <p:cxnSp>
        <p:nvCxnSpPr>
          <p:cNvPr id="43" name="직선 화살표 연결선 42"/>
          <p:cNvCxnSpPr>
            <a:stCxn id="13" idx="3"/>
            <a:endCxn id="15" idx="1"/>
          </p:cNvCxnSpPr>
          <p:nvPr/>
        </p:nvCxnSpPr>
        <p:spPr>
          <a:xfrm>
            <a:off x="10525125" y="4986338"/>
            <a:ext cx="1000125" cy="609600"/>
          </a:xfrm>
          <a:prstGeom prst="straightConnector1">
            <a:avLst/>
          </a:prstGeom>
          <a:ln w="19050">
            <a:solidFill>
              <a:srgbClr val="007E87"/>
            </a:solidFill>
            <a:headEnd type="arrow" w="med" len="med"/>
            <a:tailEnd type="arrow" w="med" len="med"/>
          </a:ln>
        </p:spPr>
      </p:cxn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8EA7705E-8FFC-4981-A469-9F7A37753F84}"/>
              </a:ext>
            </a:extLst>
          </p:cNvPr>
          <p:cNvSpPr>
            <a:spLocks noGrp="1"/>
          </p:cNvSpPr>
          <p:nvPr/>
        </p:nvSpPr>
        <p:spPr>
          <a:xfrm>
            <a:off x="3067050" y="4791075"/>
            <a:ext cx="8286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  <a:defRPr sz="1350" b="0">
                <a:solidFill>
                  <a:srgbClr val="007E87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100" b="0">
                <a:solidFill>
                  <a:srgbClr val="007E87"/>
                </a:solidFill>
                <a:latin typeface="Noto Sans CJK KR"/>
                <a:ea typeface="Noto Sans CJK KR"/>
                <a:cs typeface="Noto Sans CJK KR"/>
              </a:rPr>
              <a:t>해시 · 이벤트</a:t>
            </a: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15298CD8-5CF3-441E-8F89-64F89F455A2B}"/>
              </a:ext>
            </a:extLst>
          </p:cNvPr>
          <p:cNvSpPr>
            <a:spLocks noGrp="1"/>
          </p:cNvSpPr>
          <p:nvPr/>
        </p:nvSpPr>
        <p:spPr>
          <a:xfrm>
            <a:off x="6848475" y="4791075"/>
            <a:ext cx="76200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  <a:defRPr sz="1350" b="0">
                <a:solidFill>
                  <a:srgbClr val="007E87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100" b="0">
                <a:solidFill>
                  <a:srgbClr val="007E87"/>
                </a:solidFill>
                <a:latin typeface="Noto Sans CJK KR"/>
                <a:ea typeface="Noto Sans CJK KR"/>
                <a:cs typeface="Noto Sans CJK KR"/>
              </a:rPr>
              <a:t>저장 · 조회</a:t>
            </a: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68387BDA-EC10-4FA3-B4A6-33DAC72668C0}"/>
              </a:ext>
            </a:extLst>
          </p:cNvPr>
          <p:cNvSpPr>
            <a:spLocks noGrp="1"/>
          </p:cNvSpPr>
          <p:nvPr/>
        </p:nvSpPr>
        <p:spPr>
          <a:xfrm>
            <a:off x="723900" y="5943600"/>
            <a:ext cx="13754100" cy="419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  <a:defRPr sz="2175" b="1">
                <a:solidFill>
                  <a:srgbClr val="007E87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700" b="1">
                <a:solidFill>
                  <a:srgbClr val="007E87"/>
                </a:solidFill>
                <a:latin typeface="Noto Sans CJK KR"/>
                <a:ea typeface="Noto Sans CJK KR"/>
                <a:cs typeface="Noto Sans CJK KR"/>
              </a:rPr>
              <a:t>핵심 기술 2개 — 가장 불확실한 부분을 작은 실행 실험으로 검증했다</a:t>
            </a:r>
          </a:p>
        </p:txBody>
      </p:sp>
      <p:graphicFrame>
        <p:nvGraphicFramePr>
          <p:cNvPr id="47" name="표 46"/>
          <p:cNvGraphicFramePr/>
          <p:nvPr/>
        </p:nvGraphicFramePr>
        <p:xfrm>
          <a:off x="723900" y="6400800"/>
          <a:ext cx="12435840" cy="822960"/>
        </p:xfrm>
        <a:graphic>
          <a:graphicData uri="http://schemas.openxmlformats.org/drawingml/2006/table">
            <a:tbl>
              <a:tblPr/>
              <a:tblGrid>
                <a:gridCol w="22574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051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622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0670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7622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Noto Sans CJK KR"/>
                          <a:ea typeface="Noto Sans CJK KR"/>
                          <a:cs typeface="Noto Sans CJK KR"/>
                        </a:rPr>
                        <a:t>검증 항목</a:t>
                      </a:r>
                    </a:p>
                  </a:txBody>
                  <a:tcPr marL="142875" marR="142875" marT="27432" marB="27432" anchor="ctr">
                    <a:solidFill>
                      <a:srgbClr val="182E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Noto Sans CJK KR"/>
                          <a:ea typeface="Noto Sans CJK KR"/>
                          <a:cs typeface="Noto Sans CJK KR"/>
                        </a:rPr>
                        <a:t>실험 방법</a:t>
                      </a:r>
                    </a:p>
                  </a:txBody>
                  <a:tcPr marL="142875" marR="142875" marT="27432" marB="27432" anchor="ctr">
                    <a:solidFill>
                      <a:srgbClr val="182E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Noto Sans CJK KR"/>
                          <a:ea typeface="Noto Sans CJK KR"/>
                          <a:cs typeface="Noto Sans CJK KR"/>
                        </a:rPr>
                        <a:t>성공 기준</a:t>
                      </a:r>
                    </a:p>
                  </a:txBody>
                  <a:tcPr marL="142875" marR="142875" marT="27432" marB="27432" anchor="ctr">
                    <a:solidFill>
                      <a:srgbClr val="182E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Noto Sans CJK KR"/>
                          <a:ea typeface="Noto Sans CJK KR"/>
                          <a:cs typeface="Noto Sans CJK KR"/>
                        </a:rPr>
                        <a:t>실제 결과·증거</a:t>
                      </a:r>
                    </a:p>
                  </a:txBody>
                  <a:tcPr marL="142875" marR="142875" marT="27432" marB="27432" anchor="ctr">
                    <a:solidFill>
                      <a:srgbClr val="182E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Noto Sans CJK KR"/>
                          <a:ea typeface="Noto Sans CJK KR"/>
                          <a:cs typeface="Noto Sans CJK KR"/>
                        </a:rPr>
                        <a:t>한계와 대안</a:t>
                      </a:r>
                    </a:p>
                  </a:txBody>
                  <a:tcPr marL="142875" marR="142875" marT="27432" marB="27432" anchor="ctr">
                    <a:solidFill>
                      <a:srgbClr val="182E4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750" b="0">
                          <a:solidFill>
                            <a:srgbClr val="182E43"/>
                          </a:solidFill>
                          <a:latin typeface="Noto Sans CJK KR"/>
                          <a:ea typeface="Noto Sans CJK KR"/>
                          <a:cs typeface="Noto Sans CJK KR"/>
                        </a:rPr>
                        <a:t>해시 체인 변조 감지</a:t>
                      </a:r>
                    </a:p>
                    <a:p>
                      <a:pPr>
                        <a:spcAft>
                          <a:spcPts val="100"/>
                        </a:spcAft>
                      </a:pPr>
                      <a:r>
                        <a:rPr sz="750" b="0">
                          <a:solidFill>
                            <a:srgbClr val="182E43"/>
                          </a:solidFill>
                          <a:latin typeface="Noto Sans CJK KR"/>
                          <a:ea typeface="Noto Sans CJK KR"/>
                          <a:cs typeface="Noto Sans CJK KR"/>
                        </a:rPr>
                        <a:t>(구현 완료)</a:t>
                      </a:r>
                    </a:p>
                  </a:txBody>
                  <a:tcPr marL="142875" marR="142875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750" b="0">
                          <a:solidFill>
                            <a:srgbClr val="182E43"/>
                          </a:solidFill>
                          <a:latin typeface="Noto Sans CJK KR"/>
                          <a:ea typeface="Noto Sans CJK KR"/>
                          <a:cs typeface="Noto Sans CJK KR"/>
                        </a:rPr>
                        <a:t>스냅샷 390건 체인에서 content_hash 1자를</a:t>
                      </a:r>
                    </a:p>
                    <a:p>
                      <a:pPr>
                        <a:spcAft>
                          <a:spcPts val="100"/>
                        </a:spcAft>
                      </a:pPr>
                      <a:r>
                        <a:rPr sz="750" b="0">
                          <a:solidFill>
                            <a:srgbClr val="182E43"/>
                          </a:solidFill>
                          <a:latin typeface="Noto Sans CJK KR"/>
                          <a:ea typeface="Noto Sans CJK KR"/>
                          <a:cs typeface="Noto Sans CJK KR"/>
                        </a:rPr>
                        <a:t>무작위 위치에 변조 후 재검증 · 10회 반복</a:t>
                      </a:r>
                    </a:p>
                  </a:txBody>
                  <a:tcPr marL="142875" marR="142875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750" b="0">
                          <a:solidFill>
                            <a:srgbClr val="182E43"/>
                          </a:solidFill>
                          <a:latin typeface="Noto Sans CJK KR"/>
                          <a:ea typeface="Noto Sans CJK KR"/>
                          <a:cs typeface="Noto Sans CJK KR"/>
                        </a:rPr>
                        <a:t>변조 위치 100% 지목 · 응답 1초 이내</a:t>
                      </a:r>
                    </a:p>
                    <a:p>
                      <a:pPr>
                        <a:spcAft>
                          <a:spcPts val="100"/>
                        </a:spcAft>
                      </a:pPr>
                      <a:r>
                        <a:rPr sz="750" b="0">
                          <a:solidFill>
                            <a:srgbClr val="182E43"/>
                          </a:solidFill>
                          <a:latin typeface="Noto Sans CJK KR"/>
                          <a:ea typeface="Noto Sans CJK KR"/>
                          <a:cs typeface="Noto Sans CJK KR"/>
                        </a:rPr>
                        <a:t>(실험 전에 설정)</a:t>
                      </a:r>
                    </a:p>
                  </a:txBody>
                  <a:tcPr marL="142875" marR="142875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750" b="0">
                          <a:solidFill>
                            <a:srgbClr val="182E43"/>
                          </a:solidFill>
                          <a:latin typeface="Noto Sans CJK KR"/>
                          <a:ea typeface="Noto Sans CJK KR"/>
                          <a:cs typeface="Noto Sans CJK KR"/>
                        </a:rPr>
                        <a:t>10 / 10 정확 지목 · 평균 0.2 ms</a:t>
                      </a:r>
                    </a:p>
                    <a:p>
                      <a:pPr>
                        <a:spcAft>
                          <a:spcPts val="100"/>
                        </a:spcAft>
                      </a:pPr>
                      <a:r>
                        <a:rPr sz="750" b="0">
                          <a:solidFill>
                            <a:srgbClr val="182E43"/>
                          </a:solidFill>
                          <a:latin typeface="Noto Sans CJK KR"/>
                          <a:ea typeface="Noto Sans CJK KR"/>
                          <a:cs typeface="Noto Sans CJK KR"/>
                        </a:rPr>
                        <a:t>출력: “에세이.docx 6번에서 끊김”</a:t>
                      </a:r>
                    </a:p>
                  </a:txBody>
                  <a:tcPr marL="142875" marR="142875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750" b="0">
                          <a:solidFill>
                            <a:srgbClr val="182E43"/>
                          </a:solidFill>
                          <a:latin typeface="Noto Sans CJK KR"/>
                          <a:ea typeface="Noto Sans CJK KR"/>
                          <a:cs typeface="Noto Sans CJK KR"/>
                        </a:rPr>
                        <a:t>변조된 1건만 표시된다. 검증 시 이전 해시를</a:t>
                      </a:r>
                    </a:p>
                    <a:p>
                      <a:pPr>
                        <a:spcAft>
                          <a:spcPts val="100"/>
                        </a:spcAft>
                      </a:pPr>
                      <a:r>
                        <a:rPr sz="750" b="0">
                          <a:solidFill>
                            <a:srgbClr val="182E43"/>
                          </a:solidFill>
                          <a:latin typeface="Noto Sans CJK KR"/>
                          <a:ea typeface="Noto Sans CJK KR"/>
                          <a:cs typeface="Noto Sans CJK KR"/>
                        </a:rPr>
                        <a:t>재계산값으로 바꾸면 이후 전체가 깨짐 — 수정 예정</a:t>
                      </a:r>
                    </a:p>
                  </a:txBody>
                  <a:tcPr marL="142875" marR="142875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750"/>
                        <a:t>도구 무관 외부 유입 감지</a:t>
                      </a:r>
                    </a:p>
                    <a:p>
                      <a:pPr>
                        <a:spcAft>
                          <a:spcPts val="100"/>
                        </a:spcAft>
                      </a:pPr>
                      <a:r>
                        <a:rPr sz="750"/>
                        <a:t>(앱 전환 + 클립보드)</a:t>
                      </a:r>
                    </a:p>
                  </a:txBody>
                  <a:tcPr marL="142875" marR="142875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750"/>
                        <a:t>Word · PPT · Photoshop · VSCode 에서</a:t>
                      </a:r>
                    </a:p>
                    <a:p>
                      <a:pPr>
                        <a:spcAft>
                          <a:spcPts val="100"/>
                        </a:spcAft>
                      </a:pPr>
                      <a:r>
                        <a:rPr sz="750"/>
                        <a:t>AI 앱 → 붙여넣기 각 20회 · 대조군 20회</a:t>
                      </a:r>
                    </a:p>
                  </a:txBody>
                  <a:tcPr marL="142875" marR="142875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750"/>
                        <a:t>유입 시점 · 분량 식별 90% 이상</a:t>
                      </a:r>
                    </a:p>
                    <a:p>
                      <a:pPr>
                        <a:spcAft>
                          <a:spcPts val="100"/>
                        </a:spcAft>
                      </a:pPr>
                      <a:r>
                        <a:rPr sz="750"/>
                        <a:t>· 오탐 10% 이하</a:t>
                      </a:r>
                    </a:p>
                  </a:txBody>
                  <a:tcPr marL="142875" marR="142875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750"/>
                        <a:t>미실시 — 10주차 수집기 구현 후 진행</a:t>
                      </a:r>
                    </a:p>
                    <a:p>
                      <a:pPr>
                        <a:spcAft>
                          <a:spcPts val="100"/>
                        </a:spcAft>
                      </a:pPr>
                      <a:r>
                        <a:rPr sz="750"/>
                        <a:t>(이번 핀업에서는 결과 없음)</a:t>
                      </a:r>
                    </a:p>
                  </a:txBody>
                  <a:tcPr marL="142875" marR="142875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750"/>
                        <a:t>앱 내장 AI(Copilot 등)는 클립보드를 거치지</a:t>
                      </a:r>
                    </a:p>
                    <a:p>
                      <a:pPr>
                        <a:spcAft>
                          <a:spcPts val="100"/>
                        </a:spcAft>
                      </a:pPr>
                      <a:r>
                        <a:rPr sz="750"/>
                        <a:t>않아 탐지 불가 → 파일 변화량으로 간접 관측</a:t>
                      </a:r>
                    </a:p>
                  </a:txBody>
                  <a:tcPr marL="142875" marR="142875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24" name="직사각형 23">
            <a:extLst>
              <a:ext uri="{FF2B5EF4-FFF2-40B4-BE49-F238E27FC236}">
                <a16:creationId xmlns:a16="http://schemas.microsoft.com/office/drawing/2014/main" id="{AE0EDE33-B68B-44C6-A032-7B0FE2AAF602}"/>
              </a:ext>
            </a:extLst>
          </p:cNvPr>
          <p:cNvSpPr>
            <a:spLocks noGrp="1"/>
          </p:cNvSpPr>
          <p:nvPr/>
        </p:nvSpPr>
        <p:spPr>
          <a:xfrm>
            <a:off x="723900" y="8183879"/>
            <a:ext cx="12525375" cy="3143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575" b="0">
                <a:solidFill>
                  <a:srgbClr val="516274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575" b="0">
                <a:solidFill>
                  <a:srgbClr val="516274"/>
                </a:solidFill>
                <a:latin typeface="Noto Sans CJK KR"/>
                <a:ea typeface="Noto Sans CJK KR"/>
                <a:cs typeface="Noto Sans CJK KR"/>
              </a:rPr>
              <a:t>첫 핀업: 기술 구현 가능성의 초기 결과 제시     이후: 사용자 평가로 Research Questions 검증</a:t>
            </a:r>
          </a:p>
        </p:txBody>
      </p:sp>
    </p:spTree>
    <p:extLst>
      <p:ext uri="{BB962C8B-B14F-4D97-AF65-F5344CB8AC3E}">
        <p14:creationId xmlns:p14="http://schemas.microsoft.com/office/powerpoint/2010/main" val="490510514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539</Words>
  <Application>Microsoft Office PowerPoint</Application>
  <DocSecurity>0</DocSecurity>
  <PresentationFormat>사용자 지정</PresentationFormat>
  <Paragraphs>88</Paragraphs>
  <Slides>3</Slides>
  <Notes>3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</vt:i4>
      </vt:variant>
    </vt:vector>
  </HeadingPairs>
  <TitlesOfParts>
    <vt:vector size="6" baseType="lpstr">
      <vt:lpstr>Noto Sans CJK KR</vt:lpstr>
      <vt:lpstr>Calibri</vt:lpstr>
      <vt:lpstr>ChatGPT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Jae Wan Park</cp:lastModifiedBy>
  <cp:revision>1</cp:revision>
  <dcterms:created xsi:type="dcterms:W3CDTF">2026-09-16T10:23:45Z</dcterms:created>
  <dcterms:modified xsi:type="dcterms:W3CDTF">2026-09-16T10:34:03Z</dcterms:modified>
</cp:coreProperties>
</file>