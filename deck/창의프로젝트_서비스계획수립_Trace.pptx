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5240000" cy="8572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40"/>
  </p:normalViewPr>
  <p:slideViewPr>
    <p:cSldViewPr snapToGrid="0">
      <p:cViewPr>
        <p:scale>
          <a:sx n="139" d="100"/>
          <a:sy n="139" d="100"/>
        </p:scale>
        <p:origin x="144" y="-2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802860-7439-4928-B655-60200F5DD1A5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1238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sz="1575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 dirty="0" err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창의프로젝트</a:t>
            </a:r>
            <a:r>
              <a:rPr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   </a:t>
            </a:r>
            <a:r>
              <a:rPr sz="1575" b="1" dirty="0" err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서비스</a:t>
            </a:r>
            <a:r>
              <a:rPr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75" b="1" dirty="0" err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계획</a:t>
            </a:r>
            <a:r>
              <a:rPr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75" b="1" dirty="0" err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수립</a:t>
            </a:r>
            <a:r>
              <a:rPr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:  김용현 · </a:t>
            </a:r>
            <a:r>
              <a:rPr lang="ko-KR" altLang="en-US"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박상진</a:t>
            </a:r>
            <a:endParaRPr sz="1575" b="1" dirty="0">
              <a:solidFill>
                <a:srgbClr val="007E87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CE1A2F-F380-4A83-A147-EFB9E2332106}"/>
              </a:ext>
            </a:extLst>
          </p:cNvPr>
          <p:cNvSpPr>
            <a:spLocks noGrp="1"/>
          </p:cNvSpPr>
          <p:nvPr/>
        </p:nvSpPr>
        <p:spPr>
          <a:xfrm>
            <a:off x="723900" y="838200"/>
            <a:ext cx="13716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문제 발견 및 정의와 기반 문헌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8CAA27-C99A-4282-AD34-11A466D861C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371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누가 어떤 어려움을 겪으며, 어떤 근거로 이 문제를 설명할 수 있는가?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F28E29-E6A7-4C40-B3A7-8C9CFE9B9E21}"/>
              </a:ext>
            </a:extLst>
          </p:cNvPr>
          <p:cNvSpPr>
            <a:spLocks noGrp="1"/>
          </p:cNvSpPr>
          <p:nvPr/>
        </p:nvSpPr>
        <p:spPr>
          <a:xfrm>
            <a:off x="13335000" y="80581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01 / 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4D9461-1754-4470-BD6C-C8C7046CEA19}"/>
              </a:ext>
            </a:extLst>
          </p:cNvPr>
          <p:cNvSpPr>
            <a:spLocks noGrp="1"/>
          </p:cNvSpPr>
          <p:nvPr/>
        </p:nvSpPr>
        <p:spPr>
          <a:xfrm>
            <a:off x="723900" y="2314575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문제 정의에 포함할 내용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B3D505-D464-4EB0-AB7F-6D59F3E5EEC9}"/>
              </a:ext>
            </a:extLst>
          </p:cNvPr>
          <p:cNvSpPr>
            <a:spLocks noGrp="1"/>
          </p:cNvSpPr>
          <p:nvPr/>
        </p:nvSpPr>
        <p:spPr>
          <a:xfrm>
            <a:off x="723900" y="2924175"/>
            <a:ext cx="5762625" cy="1495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  <a:defRPr sz="2175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00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대상 ·  컴퓨터로 배우고 과제를 만드는 학습자, 그리고 이를 지도하는 교육자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상황 ·  학습이나 제작을 마친 뒤, 그 과정을 돌아보려 할 때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제약 ·  결과물만 남고 과정은 사라진다. AI 를 쓰면 막힌 지점조차 남지 않는다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학습자 ·  무엇을 배웠고 어디서 막혔는지 확인할 수 없다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교육자 ·  학습이 어디서 일어났는지 볼 수 없다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F9862F-CDDF-4611-9EA6-918F02B5E356}"/>
              </a:ext>
            </a:extLst>
          </p:cNvPr>
          <p:cNvSpPr>
            <a:spLocks noGrp="1"/>
          </p:cNvSpPr>
          <p:nvPr/>
        </p:nvSpPr>
        <p:spPr>
          <a:xfrm>
            <a:off x="723900" y="4695825"/>
            <a:ext cx="5810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defRPr sz="1875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확인된 사실 ·  LLM 으로 쓴 집단은 자기 글을 기억하지 못했다 (78%, 동료심사 전 공개본)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팀의 추정 ·  과정을 되돌아보게 하면 그 손실을 줄일 수 있다 → RQ1 로 검증 예정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이번 범위 ·  컴퓨터에서 일어난 학습 · 제작 과정의 ‘기록과 회고’ 에 한정한다.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                    이해도 측정과 AI 사용 여부 판정은 범위 밖에 둔다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942A39-CF56-43A1-A0BF-E244AC65B919}"/>
              </a:ext>
            </a:extLst>
          </p:cNvPr>
          <p:cNvSpPr>
            <a:spLocks noGrp="1"/>
          </p:cNvSpPr>
          <p:nvPr/>
        </p:nvSpPr>
        <p:spPr>
          <a:xfrm>
            <a:off x="7048499" y="2314575"/>
            <a:ext cx="7661413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sz="2325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 dirty="0" err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문제를 뒷받침하는 자료</a:t>
            </a:r>
            <a:endParaRPr sz="2325" b="1" dirty="0">
              <a:solidFill>
                <a:srgbClr val="FF0000"/>
              </a:solidFill>
              <a:latin typeface="Noto Sans CJK KR"/>
              <a:ea typeface="Noto Sans CJK KR"/>
              <a:cs typeface="Noto Sans CJK KR"/>
            </a:endParaRPr>
          </a:p>
        </p:txBody>
      </p:sp>
      <p:graphicFrame>
        <p:nvGraphicFramePr>
          <p:cNvPr id="21" name="표 20"/>
          <p:cNvGraphicFramePr/>
          <p:nvPr>
            <p:extLst>
              <p:ext uri="{D42A27DB-BD31-4B8C-83A1-F6EECF244321}">
                <p14:modId xmlns:p14="http://schemas.microsoft.com/office/powerpoint/2010/main" val="2247392611"/>
              </p:ext>
            </p:extLst>
          </p:nvPr>
        </p:nvGraphicFramePr>
        <p:xfrm>
          <a:off x="7048500" y="2914650"/>
          <a:ext cx="7429500" cy="2775586"/>
        </p:xfrm>
        <a:graphic>
          <a:graphicData uri="http://schemas.openxmlformats.org/drawingml/2006/table">
            <a:tbl>
              <a:tblPr/>
              <a:tblGrid>
                <a:gridCol w="2015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5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7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24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근거</a:t>
                      </a:r>
                    </a:p>
                  </a:txBody>
                  <a:tcPr marL="142875" marR="142875" marT="11430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조사할 내용</a:t>
                      </a:r>
                    </a:p>
                  </a:txBody>
                  <a:tcPr marL="142875" marR="142875" marT="11430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자료가 뒷받침할 주장</a:t>
                      </a:r>
                    </a:p>
                  </a:txBody>
                  <a:tcPr marL="142875" marR="142875" marT="114300" marB="95250" anchor="ctr">
                    <a:solidFill>
                      <a:srgbClr val="182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문헌</a:t>
                      </a:r>
                      <a:r>
                        <a:rPr lang="en-US" sz="1725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lang="ko-KR" altLang="en-US" sz="1725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기사</a:t>
                      </a:r>
                      <a:r>
                        <a:rPr sz="1725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1725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선행연구</a:t>
                      </a:r>
                      <a:endParaRPr sz="1725" b="0" dirty="0">
                        <a:solidFill>
                          <a:srgbClr val="182E43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MIT Media Lab (2025) — 54명 EEG 실험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LLM · 검색 · 무도구 세 집단의 에세이 작성 비교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LLM 집단은 뇌 연결성이 가장 약했다.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78% 가 자기 글을 한 구절도 인용 못 함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→ 회고가 불가능하다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공식 통계·보고서</a:t>
                      </a:r>
                    </a:p>
                  </a:txBody>
                  <a:tcPr marL="142875" marR="142875" marT="11430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Vanderbilt University (2023.08) — Turnitin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AI 탐지기 비활성화 공지와 그 근거</a:t>
                      </a:r>
                    </a:p>
                  </a:txBody>
                  <a:tcPr marL="142875" marR="142875" marT="11430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탐지 · 금지로 푸는 방식은 한계에 부딪혔다.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과정을 남기는 접근이 따로 필요하다</a:t>
                      </a:r>
                    </a:p>
                  </a:txBody>
                  <a:tcPr marL="142875" marR="142875" marT="114300" marB="95250" anchor="ctr"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63"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관찰·인터뷰</a:t>
                      </a:r>
                      <a:r>
                        <a:rPr lang="en-US" sz="1725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(</a:t>
                      </a:r>
                      <a:r>
                        <a:rPr lang="ko-KR" altLang="en-US" sz="1725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기사</a:t>
                      </a:r>
                      <a:r>
                        <a:rPr lang="en-US" sz="1725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)</a:t>
                      </a:r>
                      <a:r>
                        <a:rPr sz="1725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등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박재완 교수 인터뷰 (2026.09.16)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학생 · 교강사 인터뷰 8~10명 진행 예정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교육 현장의 문제로 확인.</a:t>
                      </a:r>
                      <a:endParaRPr sz="1725" b="0" dirty="0">
                        <a:solidFill>
                          <a:srgbClr val="182E43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‘과정에 대한 가치’ 가 핵심이라는 지적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00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(학습자 측은 아직 미검증)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FECCB158-2D7C-4408-9DB7-6143E0ACAC9F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3620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핵심 문제를 한 문장으로 정의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91289E-775C-4200-B092-3F93AF942F8E}"/>
              </a:ext>
            </a:extLst>
          </p:cNvPr>
          <p:cNvSpPr>
            <a:spLocks noGrp="1"/>
          </p:cNvSpPr>
          <p:nvPr/>
        </p:nvSpPr>
        <p:spPr>
          <a:xfrm>
            <a:off x="723900" y="6648450"/>
            <a:ext cx="13620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defRPr sz="2325" b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50" b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“컴퓨터로 배우고 만드는 학습자와 이를 지도하는 교육자는, 학습이 끝난 뒤 그 과정을 돌아보려 할 때,</a:t>
            </a:r>
          </a:p>
          <a:p>
            <a:pPr>
              <a:spcAft>
                <a:spcPts val="300"/>
              </a:spcAft>
            </a:pPr>
            <a:r>
              <a:rPr sz="1750" b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결과물만 남고 과정은 기록되지 않기 때문에, 무엇을 배웠고 어디서 막혔는지 확인할 수 없다.”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2B3B4F-3B4B-475F-BF2C-B5F11F5050F0}"/>
              </a:ext>
            </a:extLst>
          </p:cNvPr>
          <p:cNvSpPr>
            <a:spLocks noGrp="1"/>
          </p:cNvSpPr>
          <p:nvPr/>
        </p:nvSpPr>
        <p:spPr>
          <a:xfrm>
            <a:off x="723900" y="7696200"/>
            <a:ext cx="1257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  <a:defRPr sz="1575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MIT Media Lab (2025). Your Brain on ChatGPT: Accumulation of Cognitive Debt when Using an AI Assistant for Essay Writing Task. arXiv:2506.08872 — 54명 대상, 동료심사 전 공개본   ·   Vanderbilt University (2023.08.16). Guidance on AI Detection and Why We’re Disabling Turnitin’s AI Detector.</a:t>
            </a:r>
          </a:p>
          <a:p>
            <a:pPr>
              <a:spcAft>
                <a:spcPts val="100"/>
              </a:spcAft>
            </a:pPr>
            <a:r>
              <a:rPr sz="95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박재완 교수 인터뷰 (2026.09.16, 대면)   ·   통계는 각 문헌의 조사 대상·기간을 그대로 인용했으며, 팀이 추가 가공한 수치는 없음</a:t>
            </a:r>
          </a:p>
        </p:txBody>
      </p:sp>
    </p:spTree>
    <p:extLst>
      <p:ext uri="{BB962C8B-B14F-4D97-AF65-F5344CB8AC3E}">
        <p14:creationId xmlns:p14="http://schemas.microsoft.com/office/powerpoint/2010/main" val="1853931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1C1095-EDA5-433F-97FA-4CDAFECFC645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1238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sz="1575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 dirty="0" err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창의프로젝트</a:t>
            </a:r>
            <a:r>
              <a:rPr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   </a:t>
            </a:r>
            <a:r>
              <a:rPr sz="1575" b="1" dirty="0" err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서비스</a:t>
            </a:r>
            <a:r>
              <a:rPr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75" b="1" dirty="0" err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계획</a:t>
            </a:r>
            <a:r>
              <a:rPr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75" b="1" dirty="0" err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수립</a:t>
            </a:r>
            <a:r>
              <a:rPr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:  김용현 · </a:t>
            </a:r>
            <a:r>
              <a:rPr lang="ko-KR" altLang="en-US"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박상진</a:t>
            </a:r>
            <a:endParaRPr sz="1575" b="1" dirty="0">
              <a:solidFill>
                <a:srgbClr val="007E87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D2D339-8424-41FE-A681-460DF456272C}"/>
              </a:ext>
            </a:extLst>
          </p:cNvPr>
          <p:cNvSpPr>
            <a:spLocks noGrp="1"/>
          </p:cNvSpPr>
          <p:nvPr/>
        </p:nvSpPr>
        <p:spPr>
          <a:xfrm>
            <a:off x="723900" y="838200"/>
            <a:ext cx="13716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유사사례의 한계와 Research Questions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F54938-7320-4D8C-A263-02D224554326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371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 dirty="0" err="1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관련</a:t>
            </a:r>
            <a:r>
              <a:rPr sz="2025" b="0" dirty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25" b="0" dirty="0" err="1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서비스·앱·연구</a:t>
            </a:r>
            <a:r>
              <a:rPr sz="2025" b="0" dirty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en-US" sz="2025" b="0" dirty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2025" b="0" dirty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~3개를 </a:t>
            </a:r>
            <a:r>
              <a:rPr sz="2025" b="0" dirty="0" err="1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비교하여</a:t>
            </a:r>
            <a:r>
              <a:rPr sz="2025" b="0" dirty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sz="2025" b="0" dirty="0" err="1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아직</a:t>
            </a:r>
            <a:r>
              <a:rPr sz="2025" b="0" dirty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25" b="0" dirty="0" err="1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해결하지</a:t>
            </a:r>
            <a:r>
              <a:rPr sz="2025" b="0" dirty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25" b="0" dirty="0" err="1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못한</a:t>
            </a:r>
            <a:r>
              <a:rPr sz="2025" b="0" dirty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25" b="0" dirty="0" err="1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문제를</a:t>
            </a:r>
            <a:r>
              <a:rPr sz="2025" b="0" dirty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25" b="0" dirty="0" err="1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도출합니다</a:t>
            </a:r>
            <a:r>
              <a:rPr sz="2025" b="0" dirty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E3703D-C367-43E7-BAAA-CB440D414202}"/>
              </a:ext>
            </a:extLst>
          </p:cNvPr>
          <p:cNvSpPr>
            <a:spLocks noGrp="1"/>
          </p:cNvSpPr>
          <p:nvPr/>
        </p:nvSpPr>
        <p:spPr>
          <a:xfrm>
            <a:off x="13335000" y="80581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02 / 03</a:t>
            </a:r>
          </a:p>
        </p:txBody>
      </p:sp>
      <p:graphicFrame>
        <p:nvGraphicFramePr>
          <p:cNvPr id="16" name="표 15"/>
          <p:cNvGraphicFramePr/>
          <p:nvPr/>
        </p:nvGraphicFramePr>
        <p:xfrm>
          <a:off x="723900" y="2343150"/>
          <a:ext cx="13754100" cy="255270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비교 기준</a:t>
                      </a:r>
                    </a:p>
                  </a:txBody>
                  <a:tcPr marL="142875" marR="142875" marT="11430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각 사례에서 확인할 내용</a:t>
                      </a:r>
                    </a:p>
                  </a:txBody>
                  <a:tcPr marL="142875" marR="142875" marT="11430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우리 프로젝트에서 도출할 판단</a:t>
                      </a:r>
                    </a:p>
                  </a:txBody>
                  <a:tcPr marL="142875" marR="142875" marT="114300" marB="95250" anchor="ctr">
                    <a:solidFill>
                      <a:srgbClr val="182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대상과 사용 맥락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Grammarly Authorship — Google 문서에서 글 쓰는 학생  ·  Turnitin Clarity — 기관이 계약한 학생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Google 문서 버전 기록 — 같은 문서를 쓰는 모든 사람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앞 둘은 ‘특정 도구 안’ 에서만 동작한다. 버전 기록은 도구를 가리지 않지만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글에만 해당한다. 여러 앱을 오가며 배우는 학습자에게는 셋 다 부족하다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해결 방식과 기능</a:t>
                      </a:r>
                    </a:p>
                  </a:txBody>
                  <a:tcPr marL="142875" marR="142875" marT="11430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Authorship — 타이핑 · 붙여넣기 · AI 요청을 문장 단위로 구분해 표시하고 과정을 재생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버전 기록 — 저장 시점마다 문서 전체를 보관</a:t>
                      </a:r>
                    </a:p>
                  </a:txBody>
                  <a:tcPr marL="142875" marR="142875" marT="11430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‘출처를 구분해 보여준다’ 는 방식은 유효하다. 다만 셋 다 교육자에게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보고하는 형태이고, 학습자가 스스로 돌아보는 화면은 없다</a:t>
                      </a:r>
                    </a:p>
                  </a:txBody>
                  <a:tcPr marL="142875" marR="142875" marT="114300" marB="95250" anchor="ctr"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성과와 한계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Authorship — 자기 에디터 밖은 보지 못하고 기록을 봉인하는 장치가 없다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버전 기록 — 남아는 있으나 읽을 수 있는 형태가 아니어서 실제로 회고에 쓰이지 않는다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미해결 문제 = ① 도구를 가리지 않는 수집  ② 학습자 본인이 돌아볼 수 있는 형태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③ 필요할 때만 제3자에게 보이는, 고칠 수 없는 기록</a:t>
                      </a:r>
                    </a:p>
                  </a:txBody>
                  <a:tcPr marL="142875" marR="142875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5E292622-B487-4835-8792-BE74C15BE6CF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3754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defRPr sz="2100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50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차별점:  “기존 사례는 기록을 남기더라도 학습자가 되돌아볼 형태로 주지 않으므로,</a:t>
            </a:r>
          </a:p>
          <a:p>
            <a:pPr>
              <a:spcAft>
                <a:spcPts val="300"/>
              </a:spcAft>
            </a:pPr>
            <a:r>
              <a:rPr sz="1550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우리는 도구에 상관없이 과정을 모아 스스로 회고하게 하고, 필요할 때만 봉인해 증명하는 방식을 제안한다.”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6C303EE-0B5E-410C-BBC8-91BFD7871585}"/>
              </a:ext>
            </a:extLst>
          </p:cNvPr>
          <p:cNvSpPr>
            <a:spLocks noGrp="1"/>
          </p:cNvSpPr>
          <p:nvPr/>
        </p:nvSpPr>
        <p:spPr>
          <a:xfrm>
            <a:off x="723900" y="617220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lang="ko-KR" altLang="en-US" sz="225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구체적인 해결안을 도출할 </a:t>
            </a:r>
            <a:r>
              <a:rPr sz="2250" b="1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질문</a:t>
            </a:r>
            <a:r>
              <a:rPr sz="225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en-US" sz="225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225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~</a:t>
            </a:r>
            <a:r>
              <a:rPr lang="en-US" sz="225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225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D9935C-D614-417E-A7DD-A7530E13AF54}"/>
              </a:ext>
            </a:extLst>
          </p:cNvPr>
          <p:cNvSpPr>
            <a:spLocks noGrp="1"/>
          </p:cNvSpPr>
          <p:nvPr/>
        </p:nvSpPr>
        <p:spPr>
          <a:xfrm>
            <a:off x="723900" y="6724650"/>
            <a:ext cx="6524625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  <a:defRPr sz="2175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RQ1 ·  과정 기록을 되돌아보게 하면, 학습자가 자신이 막혔던 지점을</a:t>
            </a:r>
            <a:endParaRPr sz="2175" b="0" dirty="0">
              <a:solidFill>
                <a:srgbClr val="182E43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spcAft>
                <a:spcPts val="1000"/>
              </a:spcAft>
            </a:pPr>
            <a:r>
              <a:rPr sz="11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         결과물만 볼 때보다 더 많이 찾아내는가?  (Learn)</a:t>
            </a:r>
          </a:p>
          <a:p>
            <a:pPr>
              <a:spcAft>
                <a:spcPts val="100"/>
              </a:spcAft>
            </a:pPr>
            <a:r>
              <a:rPr sz="11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RQ2 ·  앱 전환 · 클립보드 · 파일 변화만으로, 어디서 막혀 AI 로 넘어갔는지를</a:t>
            </a:r>
          </a:p>
          <a:p>
            <a:pPr>
              <a:spcAft>
                <a:spcPts val="1000"/>
              </a:spcAft>
            </a:pPr>
            <a:r>
              <a:rPr sz="11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         도구와 무관하게 식별할 수 있는가?  (수집)</a:t>
            </a:r>
          </a:p>
          <a:p>
            <a:pPr>
              <a:spcAft>
                <a:spcPts val="100"/>
              </a:spcAft>
            </a:pPr>
            <a:r>
              <a:rPr sz="11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RQ3 ·  과정 기록을 함께 제출하면, 교육자가 학습이 일어난 지점을</a:t>
            </a:r>
          </a:p>
          <a:p>
            <a:pPr>
              <a:spcAft>
                <a:spcPts val="100"/>
              </a:spcAft>
            </a:pPr>
            <a:r>
              <a:rPr sz="11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         결과물만 볼 때보다 더 정확히 판단하는가?  (Proof)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4F55C3-0B42-4217-A08C-6DFA5221BD9D}"/>
              </a:ext>
            </a:extLst>
          </p:cNvPr>
          <p:cNvSpPr>
            <a:spLocks noGrp="1"/>
          </p:cNvSpPr>
          <p:nvPr/>
        </p:nvSpPr>
        <p:spPr>
          <a:xfrm>
            <a:off x="8001000" y="6172200"/>
            <a:ext cx="647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질문마다</a:t>
            </a:r>
            <a:r>
              <a:rPr sz="225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1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검증</a:t>
            </a:r>
            <a:r>
              <a:rPr sz="225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1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지표와</a:t>
            </a:r>
            <a:r>
              <a:rPr sz="225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1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방법</a:t>
            </a:r>
            <a:r>
              <a:rPr sz="225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250" b="1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제시</a:t>
            </a:r>
            <a:endParaRPr sz="2250" b="1" dirty="0">
              <a:solidFill>
                <a:srgbClr val="182E43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5FB11C-2CE4-495D-8D6E-2FCC9ED371D2}"/>
              </a:ext>
            </a:extLst>
          </p:cNvPr>
          <p:cNvSpPr>
            <a:spLocks noGrp="1"/>
          </p:cNvSpPr>
          <p:nvPr/>
        </p:nvSpPr>
        <p:spPr>
          <a:xfrm>
            <a:off x="8001000" y="6724650"/>
            <a:ext cx="6477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  <a:defRPr sz="1800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0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RQ1  지표 — 회고에서 지목한 ‘막힌 지점’ 수 · 실제 기록과의 일치율</a:t>
            </a:r>
            <a:endParaRPr sz="1800" b="0" dirty="0">
              <a:solidFill>
                <a:srgbClr val="FF0000"/>
              </a:solidFill>
              <a:latin typeface="Noto Sans CJK KR"/>
              <a:ea typeface="Noto Sans CJK KR"/>
              <a:cs typeface="Noto Sans CJK KR"/>
            </a:endParaRPr>
          </a:p>
          <a:p>
            <a:pPr>
              <a:spcAft>
                <a:spcPts val="1000"/>
              </a:spcAft>
            </a:pPr>
            <a:r>
              <a:rPr sz="100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         방법 — 같은 학생 20명에게 기록 없이 회고 / 기록 보며 회고를 교차 실시</a:t>
            </a:r>
          </a:p>
          <a:p>
            <a:pPr>
              <a:spcAft>
                <a:spcPts val="100"/>
              </a:spcAft>
            </a:pPr>
            <a:r>
              <a:rPr sz="100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RQ2  지표 — 외부 유입 구간 식별 재현율 · 오탐률</a:t>
            </a:r>
          </a:p>
          <a:p>
            <a:pPr>
              <a:spcAft>
                <a:spcPts val="1000"/>
              </a:spcAft>
            </a:pPr>
            <a:r>
              <a:rPr sz="100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         방법 — Word · PPT · Photoshop · VSCode 에서 붙여넣기 시나리오 각 20회 실행</a:t>
            </a:r>
          </a:p>
          <a:p>
            <a:pPr>
              <a:spcAft>
                <a:spcPts val="100"/>
              </a:spcAft>
            </a:pPr>
            <a:r>
              <a:rPr sz="100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RQ3  지표 — 교육자의 판단과 실제 작성 과정의 일치율</a:t>
            </a:r>
          </a:p>
          <a:p>
            <a:pPr>
              <a:spcAft>
                <a:spcPts val="100"/>
              </a:spcAft>
            </a:pPr>
            <a:r>
              <a:rPr sz="100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         방법 — 과정 기록 있음 / 없음 두 조건으로 과제 20건 평가 비교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97DF19-611A-41D1-A983-DC38AF8C0AED}"/>
              </a:ext>
            </a:extLst>
          </p:cNvPr>
          <p:cNvSpPr>
            <a:spLocks noGrp="1"/>
          </p:cNvSpPr>
          <p:nvPr/>
        </p:nvSpPr>
        <p:spPr>
          <a:xfrm>
            <a:off x="723900" y="8183879"/>
            <a:ext cx="11811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  <a:defRPr sz="150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출처: Grammarly Authorship (grammarly.com/authorship) · Turnitin Clarity · Google 문서 버전 기록 — 각 제품의 공개 문서 기준.</a:t>
            </a:r>
          </a:p>
          <a:p>
            <a:pPr>
              <a:spcAft>
                <a:spcPts val="100"/>
              </a:spcAft>
            </a:pPr>
            <a:r>
              <a:rPr sz="95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‘학습자용 회고 화면이 없다’ · ‘기록 봉인 장치가 없다’ 는 공개 문서에 해당 기능이 없다는 점에 근거한 팀의 판단이며, 별도 실험으로 확인한 사실은 아님.</a:t>
            </a:r>
          </a:p>
        </p:txBody>
      </p:sp>
    </p:spTree>
    <p:extLst>
      <p:ext uri="{BB962C8B-B14F-4D97-AF65-F5344CB8AC3E}">
        <p14:creationId xmlns:p14="http://schemas.microsoft.com/office/powerpoint/2010/main" val="713049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C372B437-ABCF-4F4E-A42D-E49930ED2D9E}"/>
              </a:ext>
            </a:extLst>
          </p:cNvPr>
          <p:cNvSpPr>
            <a:spLocks noGrp="1"/>
          </p:cNvSpPr>
          <p:nvPr/>
        </p:nvSpPr>
        <p:spPr>
          <a:xfrm>
            <a:off x="723900" y="333375"/>
            <a:ext cx="1238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sz="1575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 dirty="0" err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창의프로젝트</a:t>
            </a:r>
            <a:r>
              <a:rPr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   </a:t>
            </a:r>
            <a:r>
              <a:rPr sz="1575" b="1" dirty="0" err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서비스</a:t>
            </a:r>
            <a:r>
              <a:rPr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75" b="1" dirty="0" err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계획</a:t>
            </a:r>
            <a:r>
              <a:rPr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75" b="1" dirty="0" err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수립</a:t>
            </a:r>
            <a:r>
              <a:rPr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:  김용현 · </a:t>
            </a:r>
            <a:r>
              <a:rPr lang="ko-KR" altLang="en-US" sz="1575" b="1" dirty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박상진</a:t>
            </a:r>
            <a:endParaRPr sz="1575" b="1" dirty="0">
              <a:solidFill>
                <a:srgbClr val="007E87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770C61-418E-4936-A618-EEA2EF3A9311}"/>
              </a:ext>
            </a:extLst>
          </p:cNvPr>
          <p:cNvSpPr>
            <a:spLocks noGrp="1"/>
          </p:cNvSpPr>
          <p:nvPr/>
        </p:nvSpPr>
        <p:spPr>
          <a:xfrm>
            <a:off x="723900" y="838200"/>
            <a:ext cx="13716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600" b="1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제안</a:t>
            </a:r>
            <a:r>
              <a:rPr sz="360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600" b="1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서비스</a:t>
            </a:r>
            <a:r>
              <a:rPr sz="360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sz="3600" b="1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아키텍처와</a:t>
            </a:r>
            <a:r>
              <a:rPr sz="360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600" b="1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핵심</a:t>
            </a:r>
            <a:r>
              <a:rPr sz="360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600" b="1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기술</a:t>
            </a:r>
            <a:r>
              <a:rPr sz="3600" b="1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3600" b="1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테스트</a:t>
            </a:r>
            <a:endParaRPr sz="3600" b="1" dirty="0">
              <a:solidFill>
                <a:srgbClr val="182E43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BC283C-A923-4957-906E-578707D2D97D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371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무엇을 만들 것인가? 핵심 기능은 어떻게 작동하며, 지금 어느 부분까지 구현 가능한가?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3A51BB-EB1A-4D6D-86AA-F45B0CED67E4}"/>
              </a:ext>
            </a:extLst>
          </p:cNvPr>
          <p:cNvSpPr>
            <a:spLocks noGrp="1"/>
          </p:cNvSpPr>
          <p:nvPr/>
        </p:nvSpPr>
        <p:spPr>
          <a:xfrm>
            <a:off x="13335000" y="80581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03 / 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E551F5-0399-4D62-8C81-4CD3C1C22EEE}"/>
              </a:ext>
            </a:extLst>
          </p:cNvPr>
          <p:cNvSpPr>
            <a:spLocks noGrp="1"/>
          </p:cNvSpPr>
          <p:nvPr/>
        </p:nvSpPr>
        <p:spPr>
          <a:xfrm>
            <a:off x="723900" y="2238375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제작 형태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1B3F92-233B-429C-B99B-918B2C4555C0}"/>
              </a:ext>
            </a:extLst>
          </p:cNvPr>
          <p:cNvSpPr>
            <a:spLocks noGrp="1"/>
          </p:cNvSpPr>
          <p:nvPr/>
        </p:nvSpPr>
        <p:spPr>
          <a:xfrm>
            <a:off x="2724150" y="2238375"/>
            <a:ext cx="1171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sz="2025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PC </a:t>
            </a:r>
            <a:r>
              <a:rPr sz="160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애플리케이션</a:t>
            </a:r>
            <a:r>
              <a:rPr sz="160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sz="160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상주</a:t>
            </a:r>
            <a:r>
              <a:rPr sz="160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수집기</a:t>
            </a:r>
            <a:r>
              <a:rPr sz="160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) + </a:t>
            </a:r>
            <a:r>
              <a:rPr sz="160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웹</a:t>
            </a:r>
            <a:r>
              <a:rPr sz="160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서비스</a:t>
            </a:r>
            <a:r>
              <a:rPr sz="160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sz="160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검증</a:t>
            </a:r>
            <a:r>
              <a:rPr sz="160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0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화면</a:t>
            </a:r>
            <a:r>
              <a:rPr lang="en-US" altLang="ko-KR" sz="160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)</a:t>
            </a:r>
            <a:endParaRPr sz="1600" b="0" dirty="0">
              <a:solidFill>
                <a:srgbClr val="182E43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6FFAF4-E0FD-4BDB-9671-7B229DAA564D}"/>
              </a:ext>
            </a:extLst>
          </p:cNvPr>
          <p:cNvSpPr>
            <a:spLocks noGrp="1"/>
          </p:cNvSpPr>
          <p:nvPr/>
        </p:nvSpPr>
        <p:spPr>
          <a:xfrm>
            <a:off x="723900" y="2705100"/>
            <a:ext cx="1809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서비스 개념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9F3B60-A684-42C8-9AF8-E503F4C766E4}"/>
              </a:ext>
            </a:extLst>
          </p:cNvPr>
          <p:cNvSpPr>
            <a:spLocks noGrp="1"/>
          </p:cNvSpPr>
          <p:nvPr/>
        </p:nvSpPr>
        <p:spPr>
          <a:xfrm>
            <a:off x="2724150" y="2705100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sz="2025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컴퓨터로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배우고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만드는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사람에게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쓰던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도구를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바꾸지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않고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과정을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남겨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①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스스로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돌아보고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②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필요할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때만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제3자에게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보일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수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있게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한다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  <a:p>
            <a:pPr>
              <a:spcAft>
                <a:spcPts val="200"/>
              </a:spcAft>
            </a:pP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핵심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기능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 ① Learn —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과정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회고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화면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(RQ1)   ②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도구를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가리지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않는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수집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(RQ2)   ③ Proof —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해시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체인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봉인과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증명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(RQ3)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2156AC-A4C2-402F-9549-7AE16335ABDA}"/>
              </a:ext>
            </a:extLst>
          </p:cNvPr>
          <p:cNvSpPr>
            <a:spLocks noGrp="1"/>
          </p:cNvSpPr>
          <p:nvPr/>
        </p:nvSpPr>
        <p:spPr>
          <a:xfrm>
            <a:off x="723900" y="3419475"/>
            <a:ext cx="74295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시스템·서비스 아키텍처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21649D-8CA6-48CD-9207-5A87121155C8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352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  <a:defRPr sz="1725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학습자는 쓰던 도구에서 그대로 작업하고, 수집기는 앱 · 파일 · 클립보드의 변화만 관측해 해시로 바꿔 서버에 보낸다. 내용 자체는 전송하지 않는다.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Learn 은 본인만 보는 회고 화면이고, Proof 는 봉인해 공유하는 증명 화면이다. 교육자는 Proof 를 열어 다시 계산한 값과 파일의 값을 비교한다.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5413C3-DBEC-43F7-A39F-BF8EC3988C65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2286000" cy="828675"/>
          </a:xfrm>
          <a:prstGeom prst="rect">
            <a:avLst/>
          </a:prstGeom>
          <a:solidFill>
            <a:srgbClr val="F1F6F7"/>
          </a:solidFill>
          <a:ln w="15240">
            <a:solidFill>
              <a:srgbClr val="007E87"/>
            </a:solidFill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spcAft>
                <a:spcPts val="100"/>
              </a:spcAft>
              <a:defRPr sz="1800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학습자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·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교육자</a:t>
            </a:r>
            <a:endParaRPr sz="1350" b="0" dirty="0">
              <a:solidFill>
                <a:srgbClr val="182E43"/>
              </a:solidFill>
              <a:latin typeface="Noto Sans CJK KR"/>
              <a:ea typeface="Noto Sans CJK KR"/>
              <a:cs typeface="Noto Sans CJK KR"/>
            </a:endParaRPr>
          </a:p>
          <a:p>
            <a:pPr algn="ctr">
              <a:spcAft>
                <a:spcPts val="100"/>
              </a:spcAft>
            </a:pPr>
            <a:r>
              <a:rPr lang="en-US" altLang="ko-KR" sz="135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-&gt;</a:t>
            </a:r>
            <a:r>
              <a:rPr lang="ko-KR" altLang="en-US" sz="135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쓰던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도구에서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작업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·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열람</a:t>
            </a:r>
            <a:endParaRPr sz="1350" b="0" dirty="0">
              <a:solidFill>
                <a:srgbClr val="182E43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896DF8-D7B9-42DA-8022-7CE3A501652F}"/>
              </a:ext>
            </a:extLst>
          </p:cNvPr>
          <p:cNvSpPr>
            <a:spLocks noGrp="1"/>
          </p:cNvSpPr>
          <p:nvPr/>
        </p:nvSpPr>
        <p:spPr>
          <a:xfrm>
            <a:off x="3905250" y="4572000"/>
            <a:ext cx="2857500" cy="828675"/>
          </a:xfrm>
          <a:prstGeom prst="rect">
            <a:avLst/>
          </a:prstGeom>
          <a:solidFill>
            <a:srgbClr val="F1F6F7"/>
          </a:solidFill>
          <a:ln w="15240">
            <a:solidFill>
              <a:srgbClr val="007E87"/>
            </a:solidFill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spcAft>
                <a:spcPts val="100"/>
              </a:spcAft>
              <a:defRPr sz="1800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수집기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(PC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상주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)</a:t>
            </a:r>
          </a:p>
          <a:p>
            <a:pPr algn="ctr">
              <a:spcAft>
                <a:spcPts val="100"/>
              </a:spcAft>
            </a:pPr>
            <a:r>
              <a:rPr lang="en-US" altLang="ko-KR" sz="135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-&gt;</a:t>
            </a:r>
            <a:r>
              <a:rPr lang="ko-KR" altLang="en-US" sz="135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앱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·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파일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·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클립보드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관측</a:t>
            </a:r>
            <a:endParaRPr sz="1350" b="0" dirty="0">
              <a:solidFill>
                <a:srgbClr val="182E43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8448C69-C9F0-470E-BF33-A33348395D2D}"/>
              </a:ext>
            </a:extLst>
          </p:cNvPr>
          <p:cNvSpPr>
            <a:spLocks noGrp="1"/>
          </p:cNvSpPr>
          <p:nvPr/>
        </p:nvSpPr>
        <p:spPr>
          <a:xfrm>
            <a:off x="7667625" y="4572000"/>
            <a:ext cx="2857500" cy="828675"/>
          </a:xfrm>
          <a:prstGeom prst="rect">
            <a:avLst/>
          </a:prstGeom>
          <a:solidFill>
            <a:srgbClr val="F1F6F7"/>
          </a:solidFill>
          <a:ln w="15240">
            <a:solidFill>
              <a:srgbClr val="007E87"/>
            </a:solidFill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spcAft>
                <a:spcPts val="100"/>
              </a:spcAft>
              <a:defRPr sz="1800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서버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(Flask)</a:t>
            </a:r>
          </a:p>
          <a:p>
            <a:pPr algn="ctr">
              <a:spcAft>
                <a:spcPts val="100"/>
              </a:spcAft>
            </a:pPr>
            <a:r>
              <a:rPr lang="en-US" altLang="ko-KR" sz="135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-&gt;</a:t>
            </a:r>
            <a:r>
              <a:rPr lang="ko-KR" altLang="en-US" sz="135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Learn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회고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· Proof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검증</a:t>
            </a:r>
            <a:endParaRPr sz="1350" b="0" dirty="0">
              <a:solidFill>
                <a:srgbClr val="182E43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C5C5BC-79FB-4DA3-AC23-7E85F05AE70D}"/>
              </a:ext>
            </a:extLst>
          </p:cNvPr>
          <p:cNvSpPr>
            <a:spLocks noGrp="1"/>
          </p:cNvSpPr>
          <p:nvPr/>
        </p:nvSpPr>
        <p:spPr>
          <a:xfrm>
            <a:off x="11525250" y="4286250"/>
            <a:ext cx="2952750" cy="714375"/>
          </a:xfrm>
          <a:prstGeom prst="rect">
            <a:avLst/>
          </a:prstGeom>
          <a:solidFill>
            <a:srgbClr val="F1F6F7"/>
          </a:solidFill>
          <a:ln w="15240">
            <a:solidFill>
              <a:srgbClr val="007E87"/>
            </a:solidFill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spcAft>
                <a:spcPts val="100"/>
              </a:spcAft>
              <a:defRPr sz="1800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외부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앵커</a:t>
            </a:r>
            <a:endParaRPr sz="1350" b="0" dirty="0">
              <a:solidFill>
                <a:srgbClr val="182E43"/>
              </a:solidFill>
              <a:latin typeface="Noto Sans CJK KR"/>
              <a:ea typeface="Noto Sans CJK KR"/>
              <a:cs typeface="Noto Sans CJK KR"/>
            </a:endParaRPr>
          </a:p>
          <a:p>
            <a:pPr algn="ctr">
              <a:spcAft>
                <a:spcPts val="100"/>
              </a:spcAft>
            </a:pPr>
            <a:r>
              <a:rPr lang="en-US" altLang="ko-KR" sz="135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-&gt;</a:t>
            </a:r>
            <a:r>
              <a:rPr lang="ko-KR" altLang="en-US" sz="135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과정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루트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해시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고정</a:t>
            </a:r>
            <a:endParaRPr sz="1350" b="0" dirty="0">
              <a:solidFill>
                <a:srgbClr val="182E43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64C0F69-BF40-43DF-B85B-42535962F67C}"/>
              </a:ext>
            </a:extLst>
          </p:cNvPr>
          <p:cNvSpPr>
            <a:spLocks noGrp="1"/>
          </p:cNvSpPr>
          <p:nvPr/>
        </p:nvSpPr>
        <p:spPr>
          <a:xfrm>
            <a:off x="11525250" y="5238750"/>
            <a:ext cx="2952750" cy="714375"/>
          </a:xfrm>
          <a:prstGeom prst="rect">
            <a:avLst/>
          </a:prstGeom>
          <a:solidFill>
            <a:srgbClr val="F1F6F7"/>
          </a:solidFill>
          <a:ln w="15240">
            <a:solidFill>
              <a:srgbClr val="007E87"/>
            </a:solidFill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spcAft>
                <a:spcPts val="100"/>
              </a:spcAft>
              <a:defRPr sz="1800" b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chain.json</a:t>
            </a:r>
            <a:endParaRPr sz="1350" b="0" dirty="0">
              <a:solidFill>
                <a:srgbClr val="182E43"/>
              </a:solidFill>
              <a:latin typeface="Noto Sans CJK KR"/>
              <a:ea typeface="Noto Sans CJK KR"/>
              <a:cs typeface="Noto Sans CJK KR"/>
            </a:endParaRPr>
          </a:p>
          <a:p>
            <a:pPr algn="ctr">
              <a:spcAft>
                <a:spcPts val="100"/>
              </a:spcAft>
            </a:pPr>
            <a:r>
              <a:rPr lang="en-US" altLang="ko-KR" sz="135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-&gt;</a:t>
            </a:r>
            <a:r>
              <a:rPr lang="ko-KR" altLang="en-US" sz="135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해시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·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이벤트만</a:t>
            </a:r>
            <a:r>
              <a:rPr sz="1350" b="0" dirty="0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0" dirty="0" err="1">
                <a:solidFill>
                  <a:srgbClr val="182E43"/>
                </a:solidFill>
                <a:latin typeface="Noto Sans CJK KR"/>
                <a:ea typeface="Noto Sans CJK KR"/>
                <a:cs typeface="Noto Sans CJK KR"/>
              </a:rPr>
              <a:t>저장</a:t>
            </a:r>
            <a:endParaRPr sz="1350" b="0" dirty="0">
              <a:solidFill>
                <a:srgbClr val="182E43"/>
              </a:solidFill>
              <a:latin typeface="Noto Sans CJK KR"/>
              <a:ea typeface="Noto Sans CJK KR"/>
              <a:cs typeface="Noto Sans CJK KR"/>
            </a:endParaRPr>
          </a:p>
        </p:txBody>
      </p:sp>
      <p:cxnSp>
        <p:nvCxnSpPr>
          <p:cNvPr id="40" name="직선 화살표 연결선 39"/>
          <p:cNvCxnSpPr>
            <a:stCxn id="11" idx="3"/>
            <a:endCxn id="12" idx="1"/>
          </p:cNvCxnSpPr>
          <p:nvPr/>
        </p:nvCxnSpPr>
        <p:spPr>
          <a:xfrm>
            <a:off x="3009900" y="4986338"/>
            <a:ext cx="895350" cy="0"/>
          </a:xfrm>
          <a:prstGeom prst="straightConnector1">
            <a:avLst/>
          </a:prstGeom>
          <a:ln w="19050">
            <a:solidFill>
              <a:srgbClr val="007E87"/>
            </a:solidFill>
            <a:headEnd type="arrow" w="med" len="med"/>
            <a:tailEnd type="arrow" w="med" len="med"/>
          </a:ln>
        </p:spPr>
      </p:cxnSp>
      <p:cxnSp>
        <p:nvCxnSpPr>
          <p:cNvPr id="41" name="직선 화살표 연결선 40"/>
          <p:cNvCxnSpPr>
            <a:stCxn id="12" idx="3"/>
            <a:endCxn id="13" idx="1"/>
          </p:cNvCxnSpPr>
          <p:nvPr/>
        </p:nvCxnSpPr>
        <p:spPr>
          <a:xfrm>
            <a:off x="6762750" y="4986338"/>
            <a:ext cx="904875" cy="0"/>
          </a:xfrm>
          <a:prstGeom prst="straightConnector1">
            <a:avLst/>
          </a:prstGeom>
          <a:ln w="19050">
            <a:solidFill>
              <a:srgbClr val="007E87"/>
            </a:solidFill>
            <a:headEnd type="arrow" w="med" len="med"/>
            <a:tailEnd type="arrow" w="med" len="med"/>
          </a:ln>
        </p:spPr>
      </p:cxnSp>
      <p:cxnSp>
        <p:nvCxnSpPr>
          <p:cNvPr id="42" name="직선 화살표 연결선 41"/>
          <p:cNvCxnSpPr>
            <a:stCxn id="13" idx="3"/>
            <a:endCxn id="14" idx="1"/>
          </p:cNvCxnSpPr>
          <p:nvPr/>
        </p:nvCxnSpPr>
        <p:spPr>
          <a:xfrm flipV="1">
            <a:off x="10525125" y="4643438"/>
            <a:ext cx="1000125" cy="342900"/>
          </a:xfrm>
          <a:prstGeom prst="straightConnector1">
            <a:avLst/>
          </a:prstGeom>
          <a:ln w="19050">
            <a:solidFill>
              <a:srgbClr val="007E87"/>
            </a:solidFill>
            <a:headEnd type="arrow" w="med" len="med"/>
            <a:tailEnd type="arrow" w="med" len="med"/>
          </a:ln>
        </p:spPr>
      </p:cxnSp>
      <p:cxnSp>
        <p:nvCxnSpPr>
          <p:cNvPr id="43" name="직선 화살표 연결선 42"/>
          <p:cNvCxnSpPr>
            <a:stCxn id="13" idx="3"/>
            <a:endCxn id="15" idx="1"/>
          </p:cNvCxnSpPr>
          <p:nvPr/>
        </p:nvCxnSpPr>
        <p:spPr>
          <a:xfrm>
            <a:off x="10525125" y="4986338"/>
            <a:ext cx="1000125" cy="609600"/>
          </a:xfrm>
          <a:prstGeom prst="straightConnector1">
            <a:avLst/>
          </a:prstGeom>
          <a:ln w="19050">
            <a:solidFill>
              <a:srgbClr val="007E87"/>
            </a:solidFill>
            <a:headEnd type="arrow" w="med" len="med"/>
            <a:tailEnd type="arrow" w="med" len="med"/>
          </a:ln>
        </p:spPr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A7705E-8FFC-4981-A469-9F7A37753F84}"/>
              </a:ext>
            </a:extLst>
          </p:cNvPr>
          <p:cNvSpPr>
            <a:spLocks noGrp="1"/>
          </p:cNvSpPr>
          <p:nvPr/>
        </p:nvSpPr>
        <p:spPr>
          <a:xfrm>
            <a:off x="3067050" y="4791075"/>
            <a:ext cx="8286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sz="1350" b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00" b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해시 · 이벤트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5298CD8-5CF3-441E-8F89-64F89F455A2B}"/>
              </a:ext>
            </a:extLst>
          </p:cNvPr>
          <p:cNvSpPr>
            <a:spLocks noGrp="1"/>
          </p:cNvSpPr>
          <p:nvPr/>
        </p:nvSpPr>
        <p:spPr>
          <a:xfrm>
            <a:off x="6848475" y="4791075"/>
            <a:ext cx="762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sz="1350" b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00" b="0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저장 · 조회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8387BDA-EC10-4FA3-B4A6-33DAC72668C0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3754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defRPr sz="2175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007E87"/>
                </a:solidFill>
                <a:latin typeface="Noto Sans CJK KR"/>
                <a:ea typeface="Noto Sans CJK KR"/>
                <a:cs typeface="Noto Sans CJK KR"/>
              </a:rPr>
              <a:t>핵심 기술 2개 — 가장 불확실한 부분을 작은 실행 실험으로 검증했다</a:t>
            </a:r>
          </a:p>
        </p:txBody>
      </p:sp>
      <p:graphicFrame>
        <p:nvGraphicFramePr>
          <p:cNvPr id="47" name="표 46"/>
          <p:cNvGraphicFramePr/>
          <p:nvPr/>
        </p:nvGraphicFramePr>
        <p:xfrm>
          <a:off x="723900" y="6400800"/>
          <a:ext cx="13754100" cy="898652"/>
        </p:xfrm>
        <a:graphic>
          <a:graphicData uri="http://schemas.openxmlformats.org/drawingml/2006/table">
            <a:tbl>
              <a:tblPr/>
              <a:tblGrid>
                <a:gridCol w="225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검증 항목</a:t>
                      </a:r>
                    </a:p>
                  </a:txBody>
                  <a:tcPr marL="142875" marR="142875" marT="27432" marB="27432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실험 방법</a:t>
                      </a:r>
                    </a:p>
                  </a:txBody>
                  <a:tcPr marL="142875" marR="142875" marT="27432" marB="27432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성공 기준</a:t>
                      </a:r>
                    </a:p>
                  </a:txBody>
                  <a:tcPr marL="142875" marR="142875" marT="27432" marB="27432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실제 결과·증거</a:t>
                      </a:r>
                    </a:p>
                  </a:txBody>
                  <a:tcPr marL="142875" marR="142875" marT="27432" marB="27432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한계와 대안</a:t>
                      </a:r>
                    </a:p>
                  </a:txBody>
                  <a:tcPr marL="142875" marR="142875" marT="27432" marB="27432" anchor="ctr">
                    <a:solidFill>
                      <a:srgbClr val="182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해시 체인 변조 감지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(구현 완료)</a:t>
                      </a:r>
                    </a:p>
                  </a:txBody>
                  <a:tcPr marL="142875" marR="142875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스냅샷</a:t>
                      </a:r>
                      <a:r>
                        <a:rPr sz="750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390건 </a:t>
                      </a:r>
                      <a:r>
                        <a:rPr sz="750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체인에서</a:t>
                      </a:r>
                      <a:r>
                        <a:rPr sz="750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content_hash</a:t>
                      </a:r>
                      <a:r>
                        <a:rPr sz="750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1자를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무작위</a:t>
                      </a:r>
                      <a:r>
                        <a:rPr sz="750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위치에</a:t>
                      </a:r>
                      <a:r>
                        <a:rPr sz="750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변조</a:t>
                      </a:r>
                      <a:r>
                        <a:rPr sz="750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후</a:t>
                      </a:r>
                      <a:r>
                        <a:rPr sz="750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재검증</a:t>
                      </a:r>
                      <a:r>
                        <a:rPr sz="750" b="0" dirty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· 10회 </a:t>
                      </a:r>
                      <a:r>
                        <a:rPr sz="750" b="0" dirty="0" err="1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반복</a:t>
                      </a:r>
                      <a:endParaRPr sz="750" b="0" dirty="0">
                        <a:solidFill>
                          <a:srgbClr val="182E43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42875" marR="142875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변조 위치 100% 지목 · 응답 1초 이내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(실험 전에 설정)</a:t>
                      </a:r>
                    </a:p>
                  </a:txBody>
                  <a:tcPr marL="142875" marR="142875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10 / 10 정확 지목 · 평균 0.2 ms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출력: “에세이.docx 6번에서 끊김”</a:t>
                      </a:r>
                    </a:p>
                  </a:txBody>
                  <a:tcPr marL="142875" marR="142875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변조된 1건만 표시된다. 검증 시 이전 해시를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182E4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재계산값으로 바꾸면 이후 전체가 깨짐 — 수정 예정</a:t>
                      </a:r>
                    </a:p>
                  </a:txBody>
                  <a:tcPr marL="142875" marR="142875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/>
                        <a:t>도구 무관 외부 유입 감지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750"/>
                        <a:t>(앱 전환 + 클립보드)</a:t>
                      </a:r>
                    </a:p>
                  </a:txBody>
                  <a:tcPr marL="142875" marR="142875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/>
                        <a:t>Word · PPT · Photoshop · VSCode 에서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750"/>
                        <a:t>AI 앱 → 붙여넣기 각 20회 · 대조군 20회</a:t>
                      </a:r>
                    </a:p>
                  </a:txBody>
                  <a:tcPr marL="142875" marR="142875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/>
                        <a:t>유입 시점 · 분량 식별 90% 이상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750"/>
                        <a:t>· 오탐 10% 이하</a:t>
                      </a:r>
                    </a:p>
                  </a:txBody>
                  <a:tcPr marL="142875" marR="142875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/>
                        <a:t>미실시 — 10주차 수집기 구현 후 진행</a:t>
                      </a:r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750"/>
                        <a:t>(이번 핀업에서는 결과 없음)</a:t>
                      </a:r>
                    </a:p>
                  </a:txBody>
                  <a:tcPr marL="142875" marR="142875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dirty="0" err="1"/>
                        <a:t>앱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내장</a:t>
                      </a:r>
                      <a:r>
                        <a:rPr sz="750" dirty="0"/>
                        <a:t> AI(Copilot </a:t>
                      </a:r>
                      <a:r>
                        <a:rPr sz="750" dirty="0" err="1"/>
                        <a:t>등</a:t>
                      </a:r>
                      <a:r>
                        <a:rPr sz="750" dirty="0"/>
                        <a:t>)</a:t>
                      </a:r>
                      <a:r>
                        <a:rPr sz="750" dirty="0" err="1"/>
                        <a:t>는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클립보드를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거치지</a:t>
                      </a:r>
                      <a:endParaRPr sz="750" dirty="0"/>
                    </a:p>
                    <a:p>
                      <a:pPr>
                        <a:spcAft>
                          <a:spcPts val="100"/>
                        </a:spcAft>
                      </a:pPr>
                      <a:r>
                        <a:rPr sz="750" dirty="0" err="1"/>
                        <a:t>않아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탐지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불가</a:t>
                      </a:r>
                      <a:r>
                        <a:rPr sz="750" dirty="0"/>
                        <a:t> → </a:t>
                      </a:r>
                      <a:r>
                        <a:rPr sz="750" dirty="0" err="1"/>
                        <a:t>파일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변화량으로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간접</a:t>
                      </a:r>
                      <a:r>
                        <a:rPr sz="750" dirty="0"/>
                        <a:t> </a:t>
                      </a:r>
                      <a:r>
                        <a:rPr sz="750" dirty="0" err="1"/>
                        <a:t>관측</a:t>
                      </a:r>
                      <a:endParaRPr sz="750" dirty="0"/>
                    </a:p>
                  </a:txBody>
                  <a:tcPr marL="142875" marR="142875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574879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AE0EDE33-B68B-44C6-A032-7B0FE2AAF602}"/>
              </a:ext>
            </a:extLst>
          </p:cNvPr>
          <p:cNvSpPr>
            <a:spLocks noGrp="1"/>
          </p:cNvSpPr>
          <p:nvPr/>
        </p:nvSpPr>
        <p:spPr>
          <a:xfrm>
            <a:off x="723900" y="8183879"/>
            <a:ext cx="125253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16274"/>
                </a:solidFill>
                <a:latin typeface="Noto Sans CJK KR"/>
                <a:ea typeface="Noto Sans CJK KR"/>
                <a:cs typeface="Noto Sans CJK KR"/>
              </a:rPr>
              <a:t>첫 핀업: 기술 구현 가능성의 초기 결과 제시     이후: 사용자 평가로 Research Questions 검증</a:t>
            </a:r>
          </a:p>
        </p:txBody>
      </p:sp>
    </p:spTree>
    <p:extLst>
      <p:ext uri="{BB962C8B-B14F-4D97-AF65-F5344CB8AC3E}">
        <p14:creationId xmlns:p14="http://schemas.microsoft.com/office/powerpoint/2010/main" val="4905105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1235</Words>
  <Application>Microsoft Macintosh PowerPoint</Application>
  <DocSecurity>0</DocSecurity>
  <PresentationFormat>사용자 지정</PresentationFormat>
  <Paragraphs>131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Noto Sans CJK KR</vt:lpstr>
      <vt:lpstr>Calibri</vt:lpstr>
      <vt:lpstr>ChatGPT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김용현</cp:lastModifiedBy>
  <cp:revision>7</cp:revision>
  <dcterms:created xsi:type="dcterms:W3CDTF">2026-09-16T10:23:45Z</dcterms:created>
  <dcterms:modified xsi:type="dcterms:W3CDTF">2026-09-19T05:50:04Z</dcterms:modified>
</cp:coreProperties>
</file>